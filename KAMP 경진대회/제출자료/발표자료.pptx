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불량률</c:v>
                </c:pt>
              </c:strCache>
            </c:strRef>
          </c:tx>
          <c:spPr>
            <a:solidFill>
              <a:srgbClr val="0E8C87"/>
            </a:solidFill>
          </c:spPr>
          <c:cat>
            <c:strRef>
              <c:f>Sheet1!$A$2:$A$4</c:f>
              <c:strCache>
                <c:ptCount val="3"/>
                <c:pt idx="0">
                  <c:v>전체</c:v>
                </c:pt>
                <c:pt idx="1">
                  <c:v>CN7</c:v>
                </c:pt>
                <c:pt idx="2">
                  <c:v>RG3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0.017551190973673213</c:v>
                </c:pt>
                <c:pt idx="1">
                  <c:v>0.014037985136251</c:v>
                </c:pt>
                <c:pt idx="2">
                  <c:v>0.021150592216582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200">
                  <a:solidFill>
                    <a:srgbClr val="0B1F3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AE0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3"/>
          <c:min val="0.0"/>
        </c:scaling>
        <c:delete val="0"/>
        <c:axPos val="l"/>
        <c:majorGridlines>
          <c:spPr>
            <a:ln>
              <a:solidFill>
                <a:srgbClr val="D5DAE0"/>
              </a:solidFill>
            </a:ln>
          </c:spPr>
        </c:majorGridlines>
        <c:numFmt formatCode="0.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5B6470"/>
          </a:solidFill>
          <a:latin typeface="맑은 고딕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추정 캐비티 0</c:v>
                </c:pt>
              </c:strCache>
            </c:strRef>
          </c:tx>
          <c:spPr>
            <a:solidFill>
              <a:srgbClr val="F07D21"/>
            </a:solidFill>
          </c:spPr>
          <c:cat>
            <c:strRef>
              <c:f>Sheet1!$A$2:$A$3</c:f>
              <c:strCache>
                <c:ptCount val="2"/>
                <c:pt idx="0">
                  <c:v>CN7</c:v>
                </c:pt>
                <c:pt idx="1">
                  <c:v>RG3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0.021487603305785124</c:v>
                </c:pt>
                <c:pt idx="1">
                  <c:v>0.038917089678511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추정 캐비티 1</c:v>
                </c:pt>
              </c:strCache>
            </c:strRef>
          </c:tx>
          <c:spPr>
            <a:solidFill>
              <a:srgbClr val="0E8C87"/>
            </a:solidFill>
          </c:spPr>
          <c:cat>
            <c:strRef>
              <c:f>Sheet1!$A$2:$A$3</c:f>
              <c:strCache>
                <c:ptCount val="2"/>
                <c:pt idx="0">
                  <c:v>CN7</c:v>
                </c:pt>
                <c:pt idx="1">
                  <c:v>RG3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0.006611570247933884</c:v>
                </c:pt>
                <c:pt idx="1">
                  <c:v>0.00338409475465313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200">
                  <a:solidFill>
                    <a:srgbClr val="0B1F3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AE0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45"/>
          <c:min val="0.0"/>
        </c:scaling>
        <c:delete val="0"/>
        <c:axPos val="l"/>
        <c:majorGridlines>
          <c:spPr>
            <a:ln>
              <a:solidFill>
                <a:srgbClr val="D5DAE0"/>
              </a:solidFill>
            </a:ln>
          </c:spPr>
        </c:majorGridlines>
        <c:numFmt formatCode="0.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5B6470"/>
          </a:solidFill>
          <a:latin typeface="맑은 고딕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행 단위 CV</c:v>
                </c:pt>
              </c:strCache>
            </c:strRef>
          </c:tx>
          <c:spPr>
            <a:solidFill>
              <a:srgbClr val="D5DAE0"/>
            </a:solidFill>
          </c:spPr>
          <c:cat>
            <c:strRef>
              <c:f>Sheet1!$A$2:$A$4</c:f>
              <c:strCache>
                <c:ptCount val="3"/>
                <c:pt idx="0">
                  <c:v>LR (베이스라인)</c:v>
                </c:pt>
                <c:pt idx="1">
                  <c:v>RandomForest</c:v>
                </c:pt>
                <c:pt idx="2">
                  <c:v>ExtraTrees (최종)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0.13187367273269315</c:v>
                </c:pt>
                <c:pt idx="1">
                  <c:v>0.13963405098457454</c:v>
                </c:pt>
                <c:pt idx="2">
                  <c:v>0.18439541478688473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사출 그룹 CV</c:v>
                </c:pt>
              </c:strCache>
            </c:strRef>
          </c:tx>
          <c:spPr>
            <a:solidFill>
              <a:srgbClr val="0E8C87"/>
            </a:solidFill>
          </c:spPr>
          <c:cat>
            <c:strRef>
              <c:f>Sheet1!$A$2:$A$4</c:f>
              <c:strCache>
                <c:ptCount val="3"/>
                <c:pt idx="0">
                  <c:v>LR (베이스라인)</c:v>
                </c:pt>
                <c:pt idx="1">
                  <c:v>RandomForest</c:v>
                </c:pt>
                <c:pt idx="2">
                  <c:v>ExtraTrees (최종)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0.0817485090073815</c:v>
                </c:pt>
                <c:pt idx="1">
                  <c:v>0.10345552548167741</c:v>
                </c:pt>
                <c:pt idx="2">
                  <c:v>0.12134251131566078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200">
                  <a:solidFill>
                    <a:srgbClr val="0B1F3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AE0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4"/>
          <c:min val="0.0"/>
        </c:scaling>
        <c:delete val="0"/>
        <c:axPos val="l"/>
        <c:majorGridlines>
          <c:spPr>
            <a:ln>
              <a:solidFill>
                <a:srgbClr val="D5DAE0"/>
              </a:solidFill>
            </a:ln>
          </c:spPr>
        </c:majorGridlines>
        <c:numFmt formatCode="0.0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5B6470"/>
          </a:solidFill>
          <a:latin typeface="맑은 고딕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PR-AUC</c:v>
                </c:pt>
              </c:strCache>
            </c:strRef>
          </c:tx>
          <c:spPr>
            <a:solidFill>
              <a:srgbClr val="0E8C87"/>
            </a:solidFill>
          </c:spPr>
          <c:cat>
            <c:strRef>
              <c:f>Sheet1!$A$2:$A$6</c:f>
              <c:strCache>
                <c:ptCount val="5"/>
                <c:pt idx="0">
                  <c:v>클래스
가중치</c:v>
                </c:pt>
                <c:pt idx="1">
                  <c:v>가중치
없음</c:v>
                </c:pt>
                <c:pt idx="2">
                  <c:v>Borderline
SMOTE</c:v>
                </c:pt>
                <c:pt idx="3">
                  <c:v>ADASYN</c:v>
                </c:pt>
                <c:pt idx="4">
                  <c:v>SMOTE-NC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0.12134251131566078</c:v>
                </c:pt>
                <c:pt idx="1">
                  <c:v>0.12688114530952663</c:v>
                </c:pt>
                <c:pt idx="2">
                  <c:v>0.10746894031748548</c:v>
                </c:pt>
                <c:pt idx="3">
                  <c:v>0.10423822913981501</c:v>
                </c:pt>
                <c:pt idx="4">
                  <c:v>0.10106192147143106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050">
                  <a:solidFill>
                    <a:srgbClr val="0B1F3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AE0"/>
            </a:solidFill>
          </a:ln>
        </c:spPr>
        <c:txPr>
          <a:bodyPr/>
          <a:lstStyle/>
          <a:p>
            <a:pPr>
              <a:defRPr sz="10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6"/>
          <c:min val="0.0"/>
        </c:scaling>
        <c:delete val="0"/>
        <c:axPos val="l"/>
        <c:majorGridlines>
          <c:spPr>
            <a:ln>
              <a:solidFill>
                <a:srgbClr val="D5DAE0"/>
              </a:solidFill>
            </a:ln>
          </c:spPr>
        </c:majorGridlines>
        <c:numFmt formatCode="0.0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5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50">
          <a:solidFill>
            <a:srgbClr val="5B6470"/>
          </a:solidFill>
          <a:latin typeface="맑은 고딕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PR-AUC</c:v>
                </c:pt>
              </c:strCache>
            </c:strRef>
          </c:tx>
          <c:spPr>
            <a:solidFill>
              <a:srgbClr val="0E8C87"/>
            </a:solidFill>
          </c:spPr>
          <c:cat>
            <c:strRef>
              <c:f>Sheet1!$A$2:$A$4</c:f>
              <c:strCache>
                <c:ptCount val="3"/>
                <c:pt idx="0">
                  <c:v>① 무작위
사출 그룹 CV</c:v>
                </c:pt>
                <c:pt idx="1">
                  <c:v>② 생산순번
블록 8개</c:v>
                </c:pt>
                <c:pt idx="2">
                  <c:v>② 생산순번
블록 16개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0.12134251131566078</c:v>
                </c:pt>
                <c:pt idx="1">
                  <c:v>0.04472486932681615</c:v>
                </c:pt>
                <c:pt idx="2">
                  <c:v>0.060225664121604454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Recall@20% (fold 평균)</c:v>
                </c:pt>
              </c:strCache>
            </c:strRef>
          </c:tx>
          <c:spPr>
            <a:solidFill>
              <a:srgbClr val="F07D21"/>
            </a:solidFill>
          </c:spPr>
          <c:cat>
            <c:strRef>
              <c:f>Sheet1!$A$2:$A$4</c:f>
              <c:strCache>
                <c:ptCount val="3"/>
                <c:pt idx="0">
                  <c:v>① 무작위
사출 그룹 CV</c:v>
                </c:pt>
                <c:pt idx="1">
                  <c:v>② 생산순번
블록 8개</c:v>
                </c:pt>
                <c:pt idx="2">
                  <c:v>② 생산순번
블록 16개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0.6996969696969697</c:v>
                </c:pt>
                <c:pt idx="1">
                  <c:v>0.419558682058682</c:v>
                </c:pt>
                <c:pt idx="2">
                  <c:v>0.5787931839402428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100">
                  <a:solidFill>
                    <a:srgbClr val="0B1F3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AE0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5"/>
          <c:min val="0.0"/>
        </c:scaling>
        <c:delete val="0"/>
        <c:axPos val="l"/>
        <c:majorGridlines>
          <c:spPr>
            <a:ln>
              <a:solidFill>
                <a:srgbClr val="D5DAE0"/>
              </a:solidFill>
            </a:ln>
          </c:spPr>
        </c:majorGridlines>
        <c:numFmt formatCode="0.0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solidFill>
            <a:srgbClr val="5B6470"/>
          </a:solidFill>
          <a:latin typeface="맑은 고딕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평균 |SHAP|</c:v>
                </c:pt>
              </c:strCache>
            </c:strRef>
          </c:tx>
          <c:spPr>
            <a:solidFill>
              <a:srgbClr val="0E8C87"/>
            </a:solidFill>
          </c:spPr>
          <c:dPt>
            <c:idx val="5"/>
            <c:spPr>
              <a:solidFill>
                <a:srgbClr val="F07D21"/>
              </a:solidFill>
            </c:spPr>
          </c:dPt>
          <c:cat>
            <c:strRef>
              <c:f>Sheet1!$A$2:$A$7</c:f>
              <c:strCache>
                <c:ptCount val="6"/>
                <c:pt idx="0">
                  <c:v>Mold_Temperature_4</c:v>
                </c:pt>
                <c:pt idx="1">
                  <c:v>Mold_Temperature_3</c:v>
                </c:pt>
                <c:pt idx="2">
                  <c:v>Plasticizing_Position</c:v>
                </c:pt>
                <c:pt idx="3">
                  <c:v>Max_Injection_Speed</c:v>
                </c:pt>
                <c:pt idx="4">
                  <c:v>Clamp_Close_Time</c:v>
                </c:pt>
                <c:pt idx="5">
                  <c:v>cavity (추정)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0.02327035184972997</c:v>
                </c:pt>
                <c:pt idx="1">
                  <c:v>0.023795640285026235</c:v>
                </c:pt>
                <c:pt idx="2">
                  <c:v>0.025662605377783965</c:v>
                </c:pt>
                <c:pt idx="3">
                  <c:v>0.03476151965961029</c:v>
                </c:pt>
                <c:pt idx="4">
                  <c:v>0.044197652460602435</c:v>
                </c:pt>
                <c:pt idx="5">
                  <c:v>0.09087044743475678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2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5DAE0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>
          <c:spPr>
            <a:ln>
              <a:solidFill>
                <a:srgbClr val="D5DAE0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5B6470"/>
          </a:solidFill>
          <a:latin typeface="맑은 고딕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CN7</c:v>
                </c:pt>
              </c:strCache>
            </c:strRef>
          </c:tx>
          <c:spPr>
            <a:ln w="38100">
              <a:solidFill>
                <a:srgbClr val="0B1F3A"/>
              </a:solidFill>
            </a:ln>
          </c:spPr>
          <c:marker>
            <c:spPr>
              <a:solidFill>
                <a:srgbClr val="0B1F3A"/>
              </a:solidFill>
              <a:ln>
                <a:solidFill>
                  <a:srgbClr val="0B1F3A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5%</c:v>
                </c:pt>
                <c:pt idx="1">
                  <c:v>10%</c:v>
                </c:pt>
                <c:pt idx="2">
                  <c:v>20%</c:v>
                </c:pt>
                <c:pt idx="3">
                  <c:v>30%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0.5384615384615384</c:v>
                </c:pt>
                <c:pt idx="1">
                  <c:v>0.9230769230769232</c:v>
                </c:pt>
                <c:pt idx="2">
                  <c:v>0.9230769230769232</c:v>
                </c:pt>
                <c:pt idx="3">
                  <c:v>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RG3</c:v>
                </c:pt>
              </c:strCache>
            </c:strRef>
          </c:tx>
          <c:spPr>
            <a:ln w="38100">
              <a:solidFill>
                <a:srgbClr val="0E8C87"/>
              </a:solidFill>
            </a:ln>
          </c:spPr>
          <c:marker>
            <c:spPr>
              <a:solidFill>
                <a:srgbClr val="0E8C87"/>
              </a:solidFill>
              <a:ln>
                <a:solidFill>
                  <a:srgbClr val="0E8C87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5%</c:v>
                </c:pt>
                <c:pt idx="1">
                  <c:v>10%</c:v>
                </c:pt>
                <c:pt idx="2">
                  <c:v>20%</c:v>
                </c:pt>
                <c:pt idx="3">
                  <c:v>30%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0.0952380952380952</c:v>
                </c:pt>
                <c:pt idx="1">
                  <c:v>0.238095238095238</c:v>
                </c:pt>
                <c:pt idx="2">
                  <c:v>0.4761904761904761</c:v>
                </c:pt>
                <c:pt idx="3">
                  <c:v>0.6666666666666666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무작위 검사</c:v>
                </c:pt>
              </c:strCache>
            </c:strRef>
          </c:tx>
          <c:spPr>
            <a:ln w="25400">
              <a:solidFill>
                <a:srgbClr val="F07D21"/>
              </a:solidFill>
              <a:prstDash val="dash"/>
            </a:ln>
          </c:spPr>
          <c:marker>
            <c:spPr>
              <a:solidFill>
                <a:srgbClr val="F07D21"/>
              </a:solidFill>
              <a:ln>
                <a:solidFill>
                  <a:srgbClr val="F07D21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5%</c:v>
                </c:pt>
                <c:pt idx="1">
                  <c:v>10%</c:v>
                </c:pt>
                <c:pt idx="2">
                  <c:v>20%</c:v>
                </c:pt>
                <c:pt idx="3">
                  <c:v>30%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0.05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AE0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.0"/>
          <c:min val="0.0"/>
        </c:scaling>
        <c:delete val="0"/>
        <c:axPos val="l"/>
        <c:majorGridlines>
          <c:spPr>
            <a:ln>
              <a:solidFill>
                <a:srgbClr val="D5DAE0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5B6470"/>
          </a:solidFill>
          <a:latin typeface="맑은 고딕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사출성형 공정데이터로 제품별 위험점수를 매기고, 그 순서로 검사 대상을 정하는 프로젝트입니다.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사출이 끝난 뒤 기록된 공정값으로 검사 전에 위험점수를 매깁니다. 사출 전 예측이 아니고, 기존 검사를 대체하지도 않습니다. 한정된 검사 용량을 어디에 먼저 쓸지 정하는 도구입니다.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불량률이 1.8%라 모두 양품이라고 해도 정확도가 98%입니다. 그래서 정확도 대신 PR-AUC와 상위 k% 포착률을 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공정값 24개가 완전히 같은 행은 한 번의 사출에서 나온 제품 2개로 봤습니다. 짝이 몇 행 떨어져 교차 기록된 경우도 찾아 같은 그룹으로 묶었습니다. 불량은 대부분 그룹의 첫 행에서 나왔는데, 실제 캐비티 위치인지는 확인할 수 없어 추정 캐비티라고 부릅니다.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RG3 불량 25건은 모두 공정값 24개가 완전히 같은 양품이 있습니다. 공정값만 보는 모델은 이 둘을 구분할 수 없고, 이것이 RG3 성능의 상한입니다. 흔한 중복 제거를 적용하면 짝 중 하나가 사라져 불량 라벨도 지워집니다.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라벨과 비라벨 행을 구분하는 분류기가 순위 변환 후에도 완벽히 구분했습니다. 자기학습으로 PR-AUC는 올랐지만, 분포가 이만큼 다른 데이터의 가짜 라벨로 생긴 변화는 믿기 어려워 결합하지 않았습니다.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모든 분할을 추정 사출 그룹 단위로 했고, 홀드아웃부터 내부 3-fold까지 그룹이 겹치지 않는지 코드로 확인했습니다. 무작위 그룹 CV는 같은 시기 사출이 학습에 들어가 낙관적일 수 있어서, 생산순번 블록 CV와 과거→미래 대리 검증을 함께 봤습니다.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같은 모델을 행 단위로 섞어 검증하면 PR-AUC가 크게 높아집니다. 같은 사출 그룹의 짝이 학습에 들어가 정답을 본 효과입니다.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XGBoost, CatBoost까지 7종을 같은 25개 fold에서 비교했습니다. 미리 정한 규칙인 PR-AUC 최고 조합으로 ExtraTrees를 골랐지만, 상위 3개의 차이는 표준편차보다 훨씬 작습니다.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같은 fold끼리 짝지어 검정하고, 13개 동시 비교라 Holm 보정도 했습니다. 모델 간 차이는 유의하지 않고, 추정 캐비티 효과는 보정 후에도 유의합니다. SMOTE 계열은 성능을 낮췄습니다.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스태킹, MLP, 오토인코더를 같은 fold에서 비교했지만 모두 최종모델보다 낮았습니다. 학습 fold의 불량이 30건 안팎이라 메타 모델이나 신경망이 배울 정보가 부족합니다. 제품별 모델과 통합 모델도 차이가 작았습니다.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CN7 불량이 생산 초반 한 구간에만 있어서, 그 구간의 사출을 학습에서 빼면 PR-AUC가 크게 떨어집니다. 앞 구간으로만 학습하는 과거→미래 검증에서는 CN7 평가 구간에 불량이 없어 성능을 계산할 수 없었습니다. 이 데이터로는 처음 겪는 불안정 구간을 미리 예측할 수 있는지 검증할 수 없습니다.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테스트 불량이 8건이라 신뢰구간이 매우 넓습니다. CN7 4건은 모두 상위 5% 안에 들었고 RG3 4건은 포착하지 못했습니다. 또 fold마다 정한 임계값이 크게 흩어져, 고정 임계값 판정은 안정적이지 않습니다. 그래서 운영은 상위 k% 검사로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클래스 가중치로 학습해 점수가 실제 불량률보다 큽니다. 사출 그룹 단위 내부 CV로 보정기를 학습해 비교했더니 sigmoid의 Brier가 가장 낮았지만 순위 성능은 약간 떨어졌습니다. 그래서 순위와 표시를 나눴습니다.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SHAP으로 보면 추정 캐비티 다음으로 형체 시간, 최대 사출속도, 계량 위치가 점수를 올립니다. CN7에서는 값이 클수록 점수가 올라가는 방향이 뚜렷하고 RG3에서는 방향이 약합니다. SHAP은 모델 설명이지 불량 원인이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제품별 상위 20%를 검사한다고 보면 CN7은 13건 중 12건을 잡고 RG3는 21건 중 10건을 잡습니다. 놓친 불량은 대부분 RG3입니다. CN7 오경보는 가동 초기에 몰려 있는데, 불량 다발 시기의 양품이라 강화검사로 보는 게 맞습니다.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제품별로 같은 비율을 검사할 때 용량별 포착 수입니다. 20%면 34건 중 22건을 잡습니다. CN7 가동 초기 50사출을 전부 검사하는 규칙은 같은 검사량의 모델보다 좋았습니다. 다만 결과를 보고 정한 규칙이라 규칙과 모델을 함께 쓰는 운영을 제안합니다.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보정 확률의 개발셋 분위로 위험·주의·정상을 나눴습니다. 위험 등급 불량률은 7.3%로 정상의 약 24배이고, 정상 등급에 남는 불량은 34건 중 4건입니다. 제품마다 점수를 올린 변수 3개를 함께 보여 주되, 원인이 아니라 먼저 확인할 항목으로 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비용 자료가 없어 유출 비용을 검사 비용의 몇 배로 가정한 시나리오만 계산했습니다. CN7은 가정이 바뀌어도 최적 검사 비율이 안정적입니다. 사전경보는 공정값이 직전 10사출 평균에서 벗어나는 정도로 만들었는데, CN7에서 첫 불량보다 먼저 울렸습니다. 모델 점수로 만든 경보는 늦었습니다.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공정값을 받으면 사출 그룹을 복원하고 위험점수와 기여 변수를 계산합니다. 1사출 추론은 약 0.1초입니다. 검사하지 않은 제품 일부를 무작위로 검사해 놓친 불량을 추정하고, 조건이 차면 같은 절차로 재학습합니다.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같은 KAMP 사출성형 데이터를 쓴 선행연구는 규모가 훨씬 큽니다. 불량이 1만 건일 때는 부스팅이 우세했지만 불량 42건인 이 데이터에서는 배깅이 우세했고 SMOTE는 효과가 없었습니다. 데이터 규모와 버전이 달라 수치는 직접 비교하지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흔한 접근과 비교하면 다섯 가지가 다릅니다. KAMP 분석도구 중 데이터에 맞는 것을 골랐고, 맞지 않는 도구는 이유를 들어 제외했습니다.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run_all.py 한 줄로 진단, 14개 조합 비교, 최종 학습과 보정, 테스트 추론, 오류·현장 분석, 부가 실험까지 실행됩니다. 실행 기록에 패키지 버전과 입력 데이터·코드의 해시를 남기고, 저장된 모델로 재학습 없이 추론할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정리하면, 데이터에 없는 사출 구조를 복원해 누수 없는 검증을 설계했고, 세 가지 검증으로 성능 범위를 제시했으며, 그 결과를 검사 용량 기반 운영과 규칙, 사전경보로 연결했습니다.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chart" Target="../charts/chart6.xml"/><Relationship Id="rId4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chart" Target="../charts/char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8FD3CF"/>
                </a:solidFill>
                <a:latin typeface="맑은 고딕"/>
              </a:rPr>
              <a:t>제6회 K-인공지능 제조데이터 분석 경진대회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맑은 고딕"/>
              </a:rPr>
              <a:t>과제 ① 사출성형기 AI 데이터셋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12064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팀  j2tori</a:t>
            </a:r>
          </a:p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발표  전건우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737360"/>
            <a:ext cx="67665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800" b="1" i="0">
                <a:solidFill>
                  <a:srgbClr val="0B1F3A"/>
                </a:solidFill>
                <a:latin typeface="맑은 고딕"/>
              </a:rPr>
              <a:t>사출성형 공정데이터 기반</a:t>
            </a:r>
          </a:p>
          <a:p>
            <a:pPr algn="l">
              <a:lnSpc>
                <a:spcPct val="112000"/>
              </a:lnSpc>
            </a:pPr>
            <a:r>
              <a:rPr sz="3800" b="1" i="0">
                <a:solidFill>
                  <a:srgbClr val="0B1F3A"/>
                </a:solidFill>
                <a:latin typeface="맑은 고딕"/>
              </a:rPr>
              <a:t>품질불량 위험 예측과</a:t>
            </a:r>
          </a:p>
          <a:p>
            <a:pPr algn="l">
              <a:lnSpc>
                <a:spcPct val="112000"/>
              </a:lnSpc>
            </a:pPr>
            <a:r>
              <a:rPr sz="3800" b="1" i="0">
                <a:solidFill>
                  <a:srgbClr val="0B1F3A"/>
                </a:solidFill>
                <a:latin typeface="맑은 고딕"/>
              </a:rPr>
              <a:t>검사 우선순위 결정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4069080"/>
            <a:ext cx="6766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0E8C87"/>
                </a:solidFill>
                <a:latin typeface="맑은 고딕"/>
              </a:rPr>
              <a:t>생산 구조를 반영한 검사 보조 모델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4709160"/>
            <a:ext cx="914400" cy="64008"/>
          </a:xfrm>
          <a:prstGeom prst="rect">
            <a:avLst/>
          </a:prstGeom>
          <a:solidFill>
            <a:srgbClr val="F07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5029200"/>
            <a:ext cx="6766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470"/>
                </a:solidFill>
                <a:latin typeface="맑은 고딕"/>
              </a:rPr>
              <a:t>추정 사출 그룹 검증  ·  검증 3종  ·  검사 용량 기반 운영  ·  사전경보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E8C87"/>
                </a:solidFill>
                <a:latin typeface="맑은 고딕"/>
              </a:rPr>
              <a:t>QUALITY PRIORITY  ·  02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658368"/>
            <a:ext cx="11094415" cy="0"/>
          </a:xfrm>
          <a:prstGeom prst="line">
            <a:avLst/>
          </a:prstGeom>
          <a:ln w="9525">
            <a:solidFill>
              <a:srgbClr val="D5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786384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B1F3A"/>
                </a:solidFill>
                <a:latin typeface="맑은 고딕"/>
              </a:rPr>
              <a:t>검사 전에, 위험한 제품부터 골라 검사한다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470"/>
                </a:solidFill>
                <a:latin typeface="맑은 고딕"/>
              </a:rPr>
              <a:t>출처  과제공개 문서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0E8C87"/>
                </a:solidFill>
                <a:latin typeface="맑은 고딕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3520440" cy="301752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9202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B1F3A"/>
                </a:solidFill>
                <a:latin typeface="맑은 고딕"/>
              </a:rPr>
              <a:t>문제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560320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0B1F3A"/>
                </a:solidFill>
                <a:latin typeface="맑은 고딕"/>
              </a:rPr>
              <a:t>최종검사에서야 불량 확인</a:t>
            </a:r>
          </a:p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0B1F3A"/>
                </a:solidFill>
                <a:latin typeface="맑은 고딕"/>
              </a:rPr>
              <a:t>선제 대응이 어려움</a:t>
            </a:r>
          </a:p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0B1F3A"/>
                </a:solidFill>
                <a:latin typeface="맑은 고딕"/>
              </a:rPr>
              <a:t>검사 자원은 모든 제품에 같은 비율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691640"/>
            <a:ext cx="3520440" cy="3017520"/>
          </a:xfrm>
          <a:prstGeom prst="roundRect">
            <a:avLst>
              <a:gd name="adj" fmla="val 6000"/>
            </a:avLst>
          </a:prstGeom>
          <a:solidFill>
            <a:srgbClr val="E6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1999" y="19202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E8C87"/>
                </a:solidFill>
                <a:latin typeface="맑은 고딕"/>
              </a:rPr>
              <a:t>예측 시점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2560320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0B1F3A"/>
                </a:solidFill>
                <a:latin typeface="맑은 고딕"/>
              </a:rPr>
              <a:t>사출 완료 후, 검사 전</a:t>
            </a:r>
          </a:p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0B1F3A"/>
                </a:solidFill>
                <a:latin typeface="맑은 고딕"/>
              </a:rPr>
              <a:t>사이클·충전 시간, 사출압 등은</a:t>
            </a:r>
          </a:p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0B1F3A"/>
                </a:solidFill>
                <a:latin typeface="맑은 고딕"/>
              </a:rPr>
              <a:t>사출 중·후에 확정되는 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691640"/>
            <a:ext cx="3520440" cy="3017520"/>
          </a:xfrm>
          <a:prstGeom prst="roundRect">
            <a:avLst>
              <a:gd name="adj" fmla="val 6000"/>
            </a:avLst>
          </a:prstGeom>
          <a:solidFill>
            <a:srgbClr val="FD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9202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07D21"/>
                </a:solidFill>
                <a:latin typeface="맑은 고딕"/>
              </a:rPr>
              <a:t>목표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560320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0B1F3A"/>
                </a:solidFill>
                <a:latin typeface="맑은 고딕"/>
              </a:rPr>
              <a:t>① 제품별 위험점수</a:t>
            </a:r>
          </a:p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0B1F3A"/>
                </a:solidFill>
                <a:latin typeface="맑은 고딕"/>
              </a:rPr>
              <a:t>② 같은 검사량에서 포착률 향상</a:t>
            </a:r>
          </a:p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0B1F3A"/>
                </a:solidFill>
                <a:latin typeface="맑은 고딕"/>
              </a:rPr>
              <a:t>③ 오류 조건과 운영 규칙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977639" y="3063240"/>
            <a:ext cx="320040" cy="320040"/>
          </a:xfrm>
          <a:prstGeom prst="rightArrow">
            <a:avLst/>
          </a:prstGeom>
          <a:solidFill>
            <a:srgbClr val="D5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7726679" y="3063240"/>
            <a:ext cx="320040" cy="320040"/>
          </a:xfrm>
          <a:prstGeom prst="rightArrow">
            <a:avLst/>
          </a:prstGeom>
          <a:solidFill>
            <a:srgbClr val="D5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5074920"/>
            <a:ext cx="11091672" cy="91440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074920"/>
            <a:ext cx="1063447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B1F3A"/>
                </a:solidFill>
                <a:latin typeface="맑은 고딕"/>
              </a:rPr>
              <a:t>판정기가 아니라 </a:t>
            </a:r>
            <a:r>
              <a:rPr sz="1500" b="1" i="0">
                <a:solidFill>
                  <a:srgbClr val="0E8C87"/>
                </a:solidFill>
                <a:latin typeface="맑은 고딕"/>
              </a:rPr>
              <a:t>검사 보조 도구</a:t>
            </a:r>
            <a:r>
              <a:rPr sz="1500" b="1" i="0">
                <a:solidFill>
                  <a:srgbClr val="0B1F3A"/>
                </a:solidFill>
                <a:latin typeface="맑은 고딕"/>
              </a:rPr>
              <a:t>: 위험점수 순으로 검사하고, 기존 품질검사는 그대로 유지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E8C87"/>
                </a:solidFill>
                <a:latin typeface="맑은 고딕"/>
              </a:rPr>
              <a:t>QUALITY PRIORITY  ·  03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658368"/>
            <a:ext cx="11094415" cy="0"/>
          </a:xfrm>
          <a:prstGeom prst="line">
            <a:avLst/>
          </a:prstGeom>
          <a:ln w="9525">
            <a:solidFill>
              <a:srgbClr val="D5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786384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B1F3A"/>
                </a:solidFill>
                <a:latin typeface="맑은 고딕"/>
              </a:rPr>
              <a:t>데이터는 2,393행, 불량은 42개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470"/>
                </a:solidFill>
                <a:latin typeface="맑은 고딕"/>
              </a:rPr>
              <a:t>출처  outputs/data_diagnosis.csv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0E8C87"/>
                </a:solidFill>
                <a:latin typeface="맑은 고딕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2743200" cy="1417320"/>
          </a:xfrm>
          <a:prstGeom prst="roundRect">
            <a:avLst>
              <a:gd name="adj" fmla="val 6000"/>
            </a:avLst>
          </a:prstGeom>
          <a:solidFill>
            <a:srgbClr val="E6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10512"/>
            <a:ext cx="2286000" cy="7795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0E8C87"/>
                </a:solidFill>
                <a:latin typeface="맑은 고딕"/>
              </a:rPr>
              <a:t>2,393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24658"/>
            <a:ext cx="2286000" cy="481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0B1F3A"/>
                </a:solidFill>
                <a:latin typeface="맑은 고딕"/>
              </a:rPr>
              <a:t>라벨 데이터 (CN7 1,211 · RG3 1,182)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46120"/>
            <a:ext cx="2743200" cy="1417320"/>
          </a:xfrm>
          <a:prstGeom prst="roundRect">
            <a:avLst>
              <a:gd name="adj" fmla="val 6000"/>
            </a:avLst>
          </a:prstGeom>
          <a:solidFill>
            <a:srgbClr val="FD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410712"/>
            <a:ext cx="2286000" cy="7795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07D21"/>
                </a:solidFill>
                <a:latin typeface="맑은 고딕"/>
              </a:rPr>
              <a:t>42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124858"/>
            <a:ext cx="2286000" cy="481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0B1F3A"/>
                </a:solidFill>
                <a:latin typeface="맑은 고딕"/>
              </a:rPr>
              <a:t>불량 (CN7 17 · RG3 25)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846320"/>
            <a:ext cx="2743200" cy="141732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010912"/>
            <a:ext cx="2286000" cy="7795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0B1F3A"/>
                </a:solidFill>
                <a:latin typeface="맑은 고딕"/>
              </a:rPr>
              <a:t>98.2%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725058"/>
            <a:ext cx="2286000" cy="481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0B1F3A"/>
                </a:solidFill>
                <a:latin typeface="맑은 고딕"/>
              </a:rPr>
              <a:t>전부 양품이라 해도 나오는 정확도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3657600" y="1554480"/>
          <a:ext cx="4206240" cy="4663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8229600" y="16916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E8C87"/>
                </a:solidFill>
                <a:latin typeface="맑은 고딕"/>
              </a:rPr>
              <a:t>평가 지표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194560"/>
            <a:ext cx="342900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E8C87"/>
                </a:solidFill>
                <a:latin typeface="맑은 고딕"/>
              </a:rPr>
              <a:t>•  </a:t>
            </a:r>
            <a:r>
              <a:rPr sz="1350" b="1">
                <a:solidFill>
                  <a:srgbClr val="0B1F3A"/>
                </a:solidFill>
                <a:latin typeface="맑은 고딕"/>
              </a:rPr>
              <a:t>PR-AUC (주지표)</a:t>
            </a:r>
            <a:r>
              <a:rPr sz="1350" b="0">
                <a:solidFill>
                  <a:srgbClr val="0B1F3A"/>
                </a:solidFill>
                <a:latin typeface="맑은 고딕"/>
              </a:rPr>
              <a:t>: 무작위 기준 = 불량률 0.018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E8C87"/>
                </a:solidFill>
                <a:latin typeface="맑은 고딕"/>
              </a:rPr>
              <a:t>•  </a:t>
            </a:r>
            <a:r>
              <a:rPr sz="1350" b="1">
                <a:solidFill>
                  <a:srgbClr val="0B1F3A"/>
                </a:solidFill>
                <a:latin typeface="맑은 고딕"/>
              </a:rPr>
              <a:t>Recall@k%</a:t>
            </a:r>
            <a:r>
              <a:rPr sz="1350" b="0">
                <a:solidFill>
                  <a:srgbClr val="0B1F3A"/>
                </a:solidFill>
                <a:latin typeface="맑은 고딕"/>
              </a:rPr>
              <a:t>: 검사 용량 k%에서 불량 포착률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E8C87"/>
                </a:solidFill>
                <a:latin typeface="맑은 고딕"/>
              </a:rPr>
              <a:t>•  </a:t>
            </a:r>
            <a:r>
              <a:rPr sz="1350" b="1">
                <a:solidFill>
                  <a:srgbClr val="0B1F3A"/>
                </a:solidFill>
                <a:latin typeface="맑은 고딕"/>
              </a:rPr>
              <a:t>F1@20%</a:t>
            </a:r>
            <a:r>
              <a:rPr sz="1350" b="0">
                <a:solidFill>
                  <a:srgbClr val="0B1F3A"/>
                </a:solidFill>
                <a:latin typeface="맑은 고딕"/>
              </a:rPr>
              <a:t>: 상위 20% 검사를 판정으로 본 F1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E8C87"/>
                </a:solidFill>
                <a:latin typeface="맑은 고딕"/>
              </a:rPr>
              <a:t>•  </a:t>
            </a:r>
            <a:r>
              <a:rPr sz="1350" b="1">
                <a:solidFill>
                  <a:srgbClr val="0B1F3A"/>
                </a:solidFill>
                <a:latin typeface="맑은 고딕"/>
              </a:rPr>
              <a:t>임계값 F1</a:t>
            </a:r>
            <a:r>
              <a:rPr sz="1350" b="0">
                <a:solidFill>
                  <a:srgbClr val="0B1F3A"/>
                </a:solidFill>
                <a:latin typeface="맑은 고딕"/>
              </a:rPr>
              <a:t>: 참고용 (임계값이 불안정)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E8C87"/>
                </a:solidFill>
                <a:latin typeface="맑은 고딕"/>
              </a:rPr>
              <a:t>QUALITY PRIORITY  ·  04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658368"/>
            <a:ext cx="11094415" cy="0"/>
          </a:xfrm>
          <a:prstGeom prst="line">
            <a:avLst/>
          </a:prstGeom>
          <a:ln w="9525">
            <a:solidFill>
              <a:srgbClr val="D5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786384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B1F3A"/>
                </a:solidFill>
                <a:latin typeface="맑은 고딕"/>
              </a:rPr>
              <a:t>공정값이 같은 2행은 한 번의 사출, 불량의 86%는 그룹의 첫 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470"/>
                </a:solidFill>
                <a:latin typeface="맑은 고딕"/>
              </a:rPr>
              <a:t>출처  outputs/structure_summary.csv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0E8C87"/>
                </a:solidFill>
                <a:latin typeface="맑은 고딕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394960" cy="379476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B1F3A"/>
                </a:solidFill>
                <a:latin typeface="맑은 고딕"/>
              </a:rPr>
              <a:t>추정 사출 그룹 (사출 번호 없음)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2286000"/>
          <a:ext cx="48463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371600"/>
                <a:gridCol w="137160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CN7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RG3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연속 2행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570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574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연속 규칙상 1행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71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34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교차 짝 병합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35쌍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17쌍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최종 그룹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606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591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순번 누락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" y="484632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B6470"/>
                </a:solidFill>
                <a:latin typeface="맑은 고딕"/>
              </a:rPr>
              <a:t>1행 그룹 대부분은 2~5행 떨어진 곳에 같은 공정값 짝이 있음
(A·B·A·B 교차 기록) → 같은 그룹으로 병합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6309360" y="1554480"/>
          <a:ext cx="5349240" cy="3291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309360" y="4983480"/>
            <a:ext cx="5349240" cy="1143000"/>
          </a:xfrm>
          <a:prstGeom prst="roundRect">
            <a:avLst>
              <a:gd name="adj" fmla="val 6000"/>
            </a:avLst>
          </a:prstGeom>
          <a:solidFill>
            <a:srgbClr val="FD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4983480"/>
            <a:ext cx="48920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F3A"/>
                </a:solidFill>
                <a:latin typeface="맑은 고딕"/>
              </a:rPr>
              <a:t>불량 42건 중 36건이 그룹의 첫 행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0B1F3A"/>
                </a:solidFill>
                <a:latin typeface="맑은 고딕"/>
              </a:rPr>
              <a:t>행 순서가 실제 캐비티 위치인지는 확인 필요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E8C87"/>
                </a:solidFill>
                <a:latin typeface="맑은 고딕"/>
              </a:rPr>
              <a:t>QUALITY PRIORITY  ·  05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658368"/>
            <a:ext cx="11094415" cy="0"/>
          </a:xfrm>
          <a:prstGeom prst="line">
            <a:avLst/>
          </a:prstGeom>
          <a:ln w="9525">
            <a:solidFill>
              <a:srgbClr val="D5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786384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B1F3A"/>
                </a:solidFill>
                <a:latin typeface="맑은 고딕"/>
              </a:rPr>
              <a:t>RG3 불량은 모두 같은 공정값의 양품이 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470"/>
                </a:solidFill>
                <a:latin typeface="맑은 고딕"/>
              </a:rPr>
              <a:t>출처  노트북 1-3 라벨 충돌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0E8C87"/>
                </a:solidFill>
                <a:latin typeface="맑은 고딕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3566160" cy="1737360"/>
          </a:xfrm>
          <a:prstGeom prst="roundRect">
            <a:avLst>
              <a:gd name="adj" fmla="val 6000"/>
            </a:avLst>
          </a:prstGeom>
          <a:solidFill>
            <a:srgbClr val="FD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10512"/>
            <a:ext cx="3108960" cy="9555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07D21"/>
                </a:solidFill>
                <a:latin typeface="맑은 고딕"/>
              </a:rPr>
              <a:t>25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23083"/>
            <a:ext cx="3108960" cy="5907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0B1F3A"/>
                </a:solidFill>
                <a:latin typeface="맑은 고딕"/>
              </a:rPr>
              <a:t>RG3 불량 중 같은 공정값의 양품이 있는 비율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11880"/>
            <a:ext cx="3566160" cy="1737360"/>
          </a:xfrm>
          <a:prstGeom prst="roundRect">
            <a:avLst>
              <a:gd name="adj" fmla="val 6000"/>
            </a:avLst>
          </a:prstGeom>
          <a:solidFill>
            <a:srgbClr val="E6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776472"/>
            <a:ext cx="3108960" cy="9555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0E8C87"/>
                </a:solidFill>
                <a:latin typeface="맑은 고딕"/>
              </a:rPr>
              <a:t>11 / 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89043"/>
            <a:ext cx="3108960" cy="5907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0B1F3A"/>
                </a:solidFill>
                <a:latin typeface="맑은 고딕"/>
              </a:rPr>
              <a:t>CN7 불량 중 같은 공정값의 양품이 있는 비율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1645920"/>
            <a:ext cx="3520440" cy="370332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18288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B1F3A"/>
                </a:solidFill>
                <a:latin typeface="맑은 고딕"/>
              </a:rPr>
              <a:t>의미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331720"/>
            <a:ext cx="306324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E8C87"/>
                </a:solidFill>
                <a:latin typeface="맑은 고딕"/>
              </a:rPr>
              <a:t>•  </a:t>
            </a:r>
            <a:r>
              <a:rPr sz="1350" b="0">
                <a:solidFill>
                  <a:srgbClr val="0B1F3A"/>
                </a:solidFill>
                <a:latin typeface="맑은 고딕"/>
              </a:rPr>
              <a:t>공정값만 보는 모델은 이 짝을 구분할 수 없음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E8C87"/>
                </a:solidFill>
                <a:latin typeface="맑은 고딕"/>
              </a:rPr>
              <a:t>•  </a:t>
            </a:r>
            <a:r>
              <a:rPr sz="1350" b="0">
                <a:solidFill>
                  <a:srgbClr val="0B1F3A"/>
                </a:solidFill>
                <a:latin typeface="맑은 고딕"/>
              </a:rPr>
              <a:t>RG3 성능 한계는 데이터의 예측 상한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E8C87"/>
                </a:solidFill>
                <a:latin typeface="맑은 고딕"/>
              </a:rPr>
              <a:t>•  </a:t>
            </a:r>
            <a:r>
              <a:rPr sz="1350" b="0">
                <a:solidFill>
                  <a:srgbClr val="0B1F3A"/>
                </a:solidFill>
                <a:latin typeface="맑은 고딕"/>
              </a:rPr>
              <a:t>RG3 에는 센서 등 다른 정보가 필요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645920"/>
            <a:ext cx="3410712" cy="370332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18288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07D21"/>
                </a:solidFill>
                <a:latin typeface="맑은 고딕"/>
              </a:rPr>
              <a:t>중복 제거의 함정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377440"/>
            <a:ext cx="292608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FFFFFF"/>
                </a:solidFill>
                <a:latin typeface="맑은 고딕"/>
              </a:rPr>
              <a:t>‘완전히 같은 행 = 중복 → 삭제’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FFFFFF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FFFFFF"/>
                </a:solidFill>
                <a:latin typeface="맑은 고딕"/>
              </a:rPr>
              <a:t>이 데이터에 적용하면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FFFFFF"/>
                </a:solidFill>
                <a:latin typeface="맑은 고딕"/>
              </a:rPr>
              <a:t>같은 사출의 짝이 사라지고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FFFFFF"/>
                </a:solidFill>
                <a:latin typeface="맑은 고딕"/>
              </a:rPr>
              <a:t>불량 라벨도 함께 삭제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FFFFFF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FFFFFF"/>
                </a:solidFill>
                <a:latin typeface="맑은 고딕"/>
              </a:rPr>
              <a:t>→ 지우지 않고 그룹으로 묶음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577840"/>
            <a:ext cx="11091672" cy="640080"/>
          </a:xfrm>
          <a:prstGeom prst="roundRect">
            <a:avLst>
              <a:gd name="adj" fmla="val 6000"/>
            </a:avLst>
          </a:prstGeom>
          <a:solidFill>
            <a:srgbClr val="E6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577840"/>
            <a:ext cx="1063447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0B1F3A"/>
                </a:solidFill>
                <a:latin typeface="맑은 고딕"/>
              </a:rPr>
              <a:t>중복은 오류가 아니라 생산 구조: 삭제하지 않고 검증 설계(그룹 분할)에 반영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E8C87"/>
                </a:solidFill>
                <a:latin typeface="맑은 고딕"/>
              </a:rPr>
              <a:t>QUALITY PRIORITY  ·  06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658368"/>
            <a:ext cx="11094415" cy="0"/>
          </a:xfrm>
          <a:prstGeom prst="line">
            <a:avLst/>
          </a:prstGeom>
          <a:ln w="9525">
            <a:solidFill>
              <a:srgbClr val="D5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786384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B1F3A"/>
                </a:solidFill>
                <a:latin typeface="맑은 고딕"/>
              </a:rPr>
              <a:t>비라벨 7만 행은 분포가 달라 학습에 넣지 않았다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470"/>
                </a:solidFill>
                <a:latin typeface="맑은 고딕"/>
              </a:rPr>
              <a:t>출처  outputs/unlabeled_domain_auc.csv · self_training_cv.csv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0E8C87"/>
                </a:solidFill>
                <a:latin typeface="맑은 고딕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B1F3A"/>
                </a:solidFill>
                <a:latin typeface="맑은 고딕"/>
              </a:rPr>
              <a:t>① 도메인 판별: 라벨 vs 비라벨 구분 AUC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2423160" cy="1143000"/>
          </a:xfrm>
          <a:prstGeom prst="roundRect">
            <a:avLst>
              <a:gd name="adj" fmla="val 6000"/>
            </a:avLst>
          </a:prstGeom>
          <a:solidFill>
            <a:srgbClr val="E6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24231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0E8C87"/>
                </a:solidFill>
                <a:latin typeface="맑은 고딕"/>
              </a:rPr>
              <a:t>1.00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34639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B1F3A"/>
                </a:solidFill>
                <a:latin typeface="맑은 고딕"/>
              </a:rPr>
              <a:t>CN7 원값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54680" y="2103120"/>
            <a:ext cx="2423160" cy="1143000"/>
          </a:xfrm>
          <a:prstGeom prst="roundRect">
            <a:avLst>
              <a:gd name="adj" fmla="val 6000"/>
            </a:avLst>
          </a:prstGeom>
          <a:solidFill>
            <a:srgbClr val="E6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4680" y="2194560"/>
            <a:ext cx="24231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0E8C87"/>
                </a:solidFill>
                <a:latin typeface="맑은 고딕"/>
              </a:rPr>
              <a:t>1.00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2834639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B1F3A"/>
                </a:solidFill>
                <a:latin typeface="맑은 고딕"/>
              </a:rPr>
              <a:t>CN7 순위변환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429000"/>
            <a:ext cx="2423160" cy="1143000"/>
          </a:xfrm>
          <a:prstGeom prst="roundRect">
            <a:avLst>
              <a:gd name="adj" fmla="val 6000"/>
            </a:avLst>
          </a:prstGeom>
          <a:solidFill>
            <a:srgbClr val="E6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520440"/>
            <a:ext cx="24231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0E8C87"/>
                </a:solidFill>
                <a:latin typeface="맑은 고딕"/>
              </a:rPr>
              <a:t>1.00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16052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B1F3A"/>
                </a:solidFill>
                <a:latin typeface="맑은 고딕"/>
              </a:rPr>
              <a:t>RG3 원값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54680" y="3429000"/>
            <a:ext cx="2423160" cy="1143000"/>
          </a:xfrm>
          <a:prstGeom prst="roundRect">
            <a:avLst>
              <a:gd name="adj" fmla="val 6000"/>
            </a:avLst>
          </a:prstGeom>
          <a:solidFill>
            <a:srgbClr val="E6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54680" y="3520440"/>
            <a:ext cx="24231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0E8C87"/>
                </a:solidFill>
                <a:latin typeface="맑은 고딕"/>
              </a:rPr>
              <a:t>1.00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416052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B1F3A"/>
                </a:solidFill>
                <a:latin typeface="맑은 고딕"/>
              </a:rPr>
              <a:t>RG3 순위변환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84632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B6470"/>
                </a:solidFill>
                <a:latin typeface="맑은 고딕"/>
              </a:rPr>
              <a:t>0.5 = 비슷한 분포, 1.0 = 완전히 구분됨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160020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B1F3A"/>
                </a:solidFill>
                <a:latin typeface="맑은 고딕"/>
              </a:rPr>
              <a:t>② 자기학습 (그룹 CV 5×3)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035040" y="2103120"/>
          <a:ext cx="560527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234440"/>
                <a:gridCol w="1097280"/>
                <a:gridCol w="1261872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방식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PR-AUC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RG3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Recall@20%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B1F3A"/>
                          </a:solidFill>
                          <a:latin typeface="맑은 고딕"/>
                        </a:rPr>
                        <a:t>라벨만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0B1F3A"/>
                          </a:solidFill>
                          <a:latin typeface="맑은 고딕"/>
                        </a:rPr>
                        <a:t>0.098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0B1F3A"/>
                          </a:solidFill>
                          <a:latin typeface="맑은 고딕"/>
                        </a:rPr>
                        <a:t>0.093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0B1F3A"/>
                          </a:solidFill>
                          <a:latin typeface="맑은 고딕"/>
                        </a:rPr>
                        <a:t>0.617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B1F3A"/>
                          </a:solidFill>
                          <a:latin typeface="맑은 고딕"/>
                        </a:rPr>
                        <a:t>자기학습 (보수적)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0B1F3A"/>
                          </a:solidFill>
                          <a:latin typeface="맑은 고딕"/>
                        </a:rPr>
                        <a:t>0.136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0B1F3A"/>
                          </a:solidFill>
                          <a:latin typeface="맑은 고딕"/>
                        </a:rPr>
                        <a:t>0.118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0B1F3A"/>
                          </a:solidFill>
                          <a:latin typeface="맑은 고딕"/>
                        </a:rPr>
                        <a:t>0.649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B1F3A"/>
                          </a:solidFill>
                          <a:latin typeface="맑은 고딕"/>
                        </a:rPr>
                        <a:t>자기학습 (느슨함)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0B1F3A"/>
                          </a:solidFill>
                          <a:latin typeface="맑은 고딕"/>
                        </a:rPr>
                        <a:t>0.128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0B1F3A"/>
                          </a:solidFill>
                          <a:latin typeface="맑은 고딕"/>
                        </a:rPr>
                        <a:t>0.116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0B1F3A"/>
                          </a:solidFill>
                          <a:latin typeface="맑은 고딕"/>
                        </a:rPr>
                        <a:t>0.512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035040" y="4069080"/>
            <a:ext cx="5577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B6470"/>
                </a:solidFill>
                <a:latin typeface="맑은 고딕"/>
              </a:rPr>
              <a:t>PR-AUC는 올랐으나 Recall@20%는 설정에 따라 오르내림.
분포 차이의 원인(기간·조건·전처리)은 확인되지 않음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532120"/>
            <a:ext cx="11091672" cy="685800"/>
          </a:xfrm>
          <a:prstGeom prst="roundRect">
            <a:avLst>
              <a:gd name="adj" fmla="val 6000"/>
            </a:avLst>
          </a:prstGeom>
          <a:solidFill>
            <a:srgbClr val="FD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532120"/>
            <a:ext cx="10634472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F3A"/>
                </a:solidFill>
                <a:latin typeface="맑은 고딕"/>
              </a:rPr>
              <a:t>비라벨은 분포 진단과 운전구간 군집에만 사용. 원 단위 데이터와 수집 기간 정보가 있으면 다시 판단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E8C87"/>
                </a:solidFill>
                <a:latin typeface="맑은 고딕"/>
              </a:rPr>
              <a:t>QUALITY PRIORITY  ·  07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658368"/>
            <a:ext cx="11094415" cy="0"/>
          </a:xfrm>
          <a:prstGeom prst="line">
            <a:avLst/>
          </a:prstGeom>
          <a:ln w="9525">
            <a:solidFill>
              <a:srgbClr val="D5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786384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B1F3A"/>
                </a:solidFill>
                <a:latin typeface="맑은 고딕"/>
              </a:rPr>
              <a:t>같은 사출 그룹은 같은 쪽으로, 검증은 세 가지로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470"/>
                </a:solidFill>
                <a:latin typeface="맑은 고딕"/>
              </a:rPr>
              <a:t>출처  src/evaluate.py · src/insights.py · outputs/split_audit.csv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0E8C87"/>
                </a:solidFill>
                <a:latin typeface="맑은 고딕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2514600" cy="150876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10512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</a:rPr>
              <a:t>그룹 단위 분할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2514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50" b="0" i="0">
                <a:solidFill>
                  <a:srgbClr val="FFFFFF"/>
                </a:solidFill>
                <a:latin typeface="맑은 고딕"/>
              </a:rPr>
              <a:t>개발 1,909 / 테스트 484</a:t>
            </a:r>
          </a:p>
          <a:p>
            <a:pPr algn="ctr">
              <a:lnSpc>
                <a:spcPct val="130000"/>
              </a:lnSpc>
            </a:pPr>
            <a:r>
              <a:rPr sz="1250" b="0" i="0">
                <a:solidFill>
                  <a:srgbClr val="FFFFFF"/>
                </a:solidFill>
                <a:latin typeface="맑은 고딕"/>
              </a:rPr>
              <a:t>사출 그룹·불량 층화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08960" y="2286000"/>
            <a:ext cx="274320" cy="274320"/>
          </a:xfrm>
          <a:prstGeom prst="rightArrow">
            <a:avLst/>
          </a:prstGeom>
          <a:solidFill>
            <a:srgbClr val="D5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29000" y="1691640"/>
            <a:ext cx="2514600" cy="150876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810512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</a:rPr>
              <a:t>반복 그룹 CV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286000"/>
            <a:ext cx="2514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50" b="0" i="0">
                <a:solidFill>
                  <a:srgbClr val="FFFFFF"/>
                </a:solidFill>
                <a:latin typeface="맑은 고딕"/>
              </a:rPr>
              <a:t>5-fold × 5회</a:t>
            </a:r>
          </a:p>
          <a:p>
            <a:pPr algn="ctr">
              <a:lnSpc>
                <a:spcPct val="130000"/>
              </a:lnSpc>
            </a:pPr>
            <a:r>
              <a:rPr sz="1250" b="0" i="0">
                <a:solidFill>
                  <a:srgbClr val="FFFFFF"/>
                </a:solidFill>
                <a:latin typeface="맑은 고딕"/>
              </a:rPr>
              <a:t>14개 조합 같은 fold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89320" y="2286000"/>
            <a:ext cx="274320" cy="274320"/>
          </a:xfrm>
          <a:prstGeom prst="rightArrow">
            <a:avLst/>
          </a:prstGeom>
          <a:solidFill>
            <a:srgbClr val="D5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59" y="1691640"/>
            <a:ext cx="2514600" cy="150876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59" y="1810512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</a:rPr>
              <a:t>학습 데이터 안에서만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2286000"/>
            <a:ext cx="2514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50" b="0" i="0">
                <a:solidFill>
                  <a:srgbClr val="FFFFFF"/>
                </a:solidFill>
                <a:latin typeface="맑은 고딕"/>
              </a:rPr>
              <a:t>입력 열·임계값</a:t>
            </a:r>
          </a:p>
          <a:p>
            <a:pPr algn="ctr">
              <a:lnSpc>
                <a:spcPct val="130000"/>
              </a:lnSpc>
            </a:pPr>
            <a:r>
              <a:rPr sz="1250" b="0" i="0">
                <a:solidFill>
                  <a:srgbClr val="FFFFFF"/>
                </a:solidFill>
                <a:latin typeface="맑은 고딕"/>
              </a:rPr>
              <a:t>보정·스태킹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869680" y="2286000"/>
            <a:ext cx="274320" cy="274320"/>
          </a:xfrm>
          <a:prstGeom prst="rightArrow">
            <a:avLst/>
          </a:prstGeom>
          <a:solidFill>
            <a:srgbClr val="D5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89719" y="1691640"/>
            <a:ext cx="2514600" cy="1508760"/>
          </a:xfrm>
          <a:prstGeom prst="roundRect">
            <a:avLst>
              <a:gd name="adj" fmla="val 6000"/>
            </a:avLst>
          </a:prstGeom>
          <a:solidFill>
            <a:srgbClr val="F07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19" y="1810512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</a:rPr>
              <a:t>누수 점검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19" y="2286000"/>
            <a:ext cx="2514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50" b="0" i="0">
                <a:solidFill>
                  <a:srgbClr val="FFFFFF"/>
                </a:solidFill>
                <a:latin typeface="맑은 고딕"/>
              </a:rPr>
              <a:t>7개 분할 모두</a:t>
            </a:r>
          </a:p>
          <a:p>
            <a:pPr algn="ctr">
              <a:lnSpc>
                <a:spcPct val="130000"/>
              </a:lnSpc>
            </a:pPr>
            <a:r>
              <a:rPr sz="1250" b="0" i="0">
                <a:solidFill>
                  <a:srgbClr val="FFFFFF"/>
                </a:solidFill>
                <a:latin typeface="맑은 고딕"/>
              </a:rPr>
              <a:t>겹친 그룹 0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48640" y="3520440"/>
          <a:ext cx="1109167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926080"/>
                <a:gridCol w="2377440"/>
                <a:gridCol w="2679192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검증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분할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보는 것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한계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① 무작위 사출 그룹 CV (주 검증)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그룹을 무작위로 fold 배정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같은 기간 안의 일반화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같은 시기 이웃 사출이 학습에 들어감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② 생산순번 블록 CV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연속 구간 8·16개를 통째로 평가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같은 시기 사출을 뺐을 때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평가 구간 뒤 데이터도 학습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③ 과거→미래 대리 검증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앞 구간으로 학습, 다음 구간 평가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시간 순서를 지킨 운영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생산 순번 기준, 불량 없는 구간은 N/A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B6470"/>
                </a:solidFill>
                <a:latin typeface="맑은 고딕"/>
              </a:rPr>
              <a:t>테스트셋은 모델 선정과 설정 변경에 쓰지 않음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E8C87"/>
                </a:solidFill>
                <a:latin typeface="맑은 고딕"/>
              </a:rPr>
              <a:t>QUALITY PRIORITY  ·  08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658368"/>
            <a:ext cx="11094415" cy="0"/>
          </a:xfrm>
          <a:prstGeom prst="line">
            <a:avLst/>
          </a:prstGeom>
          <a:ln w="9525">
            <a:solidFill>
              <a:srgbClr val="D5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786384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B1F3A"/>
                </a:solidFill>
                <a:latin typeface="맑은 고딕"/>
              </a:rPr>
              <a:t>행 단위로 검증했다면 최종모델 성능을 52% 높게 봤다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470"/>
                </a:solidFill>
                <a:latin typeface="맑은 고딕"/>
              </a:rPr>
              <a:t>출처  outputs/leakage_cv.csv (5-fold × 5회)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0E8C87"/>
                </a:solidFill>
                <a:latin typeface="맑은 고딕"/>
              </a:rPr>
              <a:t>08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554480"/>
          <a:ext cx="6766560" cy="4663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80960" y="1691640"/>
            <a:ext cx="3959352" cy="1737360"/>
          </a:xfrm>
          <a:prstGeom prst="roundRect">
            <a:avLst>
              <a:gd name="adj" fmla="val 6000"/>
            </a:avLst>
          </a:prstGeom>
          <a:solidFill>
            <a:srgbClr val="FD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1856232"/>
            <a:ext cx="3502152" cy="9555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 i="0">
                <a:solidFill>
                  <a:srgbClr val="F07D21"/>
                </a:solidFill>
                <a:latin typeface="맑은 고딕"/>
              </a:rPr>
              <a:t>+52%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768803"/>
            <a:ext cx="3502152" cy="5907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0B1F3A"/>
                </a:solidFill>
                <a:latin typeface="맑은 고딕"/>
              </a:rPr>
              <a:t>ExtraTrees (0.184 vs 0.121)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3611880"/>
            <a:ext cx="3959352" cy="173736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3776472"/>
            <a:ext cx="3502152" cy="9555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0B1F3A"/>
                </a:solidFill>
                <a:latin typeface="맑은 고딕"/>
              </a:rPr>
              <a:t>+35% · +61%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4689043"/>
            <a:ext cx="3502152" cy="5907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0B1F3A"/>
                </a:solidFill>
                <a:latin typeface="맑은 고딕"/>
              </a:rPr>
              <a:t>RandomForest · LR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5532120"/>
            <a:ext cx="395935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B6470"/>
                </a:solidFill>
                <a:latin typeface="맑은 고딕"/>
              </a:rPr>
              <a:t>행 단위 분할을 쓴 연구 수치와는 직접 비교하지 않음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E8C87"/>
                </a:solidFill>
                <a:latin typeface="맑은 고딕"/>
              </a:rPr>
              <a:t>QUALITY PRIORITY  ·  09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658368"/>
            <a:ext cx="11094415" cy="0"/>
          </a:xfrm>
          <a:prstGeom prst="line">
            <a:avLst/>
          </a:prstGeom>
          <a:ln w="9525">
            <a:solidFill>
              <a:srgbClr val="D5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786384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B1F3A"/>
                </a:solidFill>
                <a:latin typeface="맑은 고딕"/>
              </a:rPr>
              <a:t>7종 비교: 상위권은 비슷하고, 규칙대로 ExtraTrees 선정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470"/>
                </a:solidFill>
                <a:latin typeface="맑은 고딕"/>
              </a:rPr>
              <a:t>출처  outputs/cv_summary.csv (무작위 사출 그룹 CV, 공정변수 + 추정 캐비티)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0E8C87"/>
                </a:solidFill>
                <a:latin typeface="맑은 고딕"/>
              </a:rPr>
              <a:t>09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0200"/>
          <a:ext cx="7315200" cy="3438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188720"/>
                <a:gridCol w="1188720"/>
                <a:gridCol w="1280160"/>
                <a:gridCol w="1463040"/>
              </a:tblGrid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모델 (+추정 캐비티)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계열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PR-AUC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ROC-AUC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Recall@20%*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B1F3A"/>
                          </a:solidFill>
                          <a:latin typeface="맑은 고딕"/>
                        </a:rPr>
                        <a:t>ExtraTrees ★</a:t>
                      </a:r>
                    </a:p>
                  </a:txBody>
                  <a:tcPr marL="73152" marR="73152" marT="27432" marB="27432" anchor="ctr">
                    <a:solidFill>
                      <a:srgbClr val="FDEF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B1F3A"/>
                          </a:solidFill>
                          <a:latin typeface="맑은 고딕"/>
                        </a:rPr>
                        <a:t>배깅</a:t>
                      </a:r>
                    </a:p>
                  </a:txBody>
                  <a:tcPr marL="73152" marR="73152" marT="27432" marB="27432" anchor="ctr">
                    <a:solidFill>
                      <a:srgbClr val="FDEF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B1F3A"/>
                          </a:solidFill>
                          <a:latin typeface="맑은 고딕"/>
                        </a:rPr>
                        <a:t>0.121</a:t>
                      </a:r>
                    </a:p>
                  </a:txBody>
                  <a:tcPr marL="73152" marR="73152" marT="27432" marB="27432" anchor="ctr">
                    <a:solidFill>
                      <a:srgbClr val="FDEF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B1F3A"/>
                          </a:solidFill>
                          <a:latin typeface="맑은 고딕"/>
                        </a:rPr>
                        <a:t>0.845</a:t>
                      </a:r>
                    </a:p>
                  </a:txBody>
                  <a:tcPr marL="73152" marR="73152" marT="27432" marB="27432" anchor="ctr">
                    <a:solidFill>
                      <a:srgbClr val="FDEF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B1F3A"/>
                          </a:solidFill>
                          <a:latin typeface="맑은 고딕"/>
                        </a:rPr>
                        <a:t>0.700</a:t>
                      </a:r>
                    </a:p>
                  </a:txBody>
                  <a:tcPr marL="73152" marR="73152" marT="27432" marB="27432" anchor="ctr">
                    <a:solidFill>
                      <a:srgbClr val="FDEFE3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RF + ET 앙상블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앙상블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0.119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0.840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0.694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CatBoost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부스팅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0.118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0.831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0.663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RandomForest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배깅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0.103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0.807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0.589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LightGBM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부스팅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0.101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0.816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0.643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LR (베이스라인)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선형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0.082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0.770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0.530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XGBoost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부스팅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0.079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0.784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0.551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120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B6470"/>
                </a:solidFill>
                <a:latin typeface="맑은 고딕"/>
              </a:rPr>
              <a:t>무작위 PR-AUC = 0.018 → 최종모델 약 6.9배 · *25개 fold 평균 (17번 슬라이드는 OOF 합산) · 선정 규칙은 분석 전에 정함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6002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E8C87"/>
                </a:solidFill>
                <a:latin typeface="맑은 고딕"/>
              </a:rPr>
              <a:t>해석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103120"/>
            <a:ext cx="3410712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0E8C87"/>
                </a:solidFill>
                <a:latin typeface="맑은 고딕"/>
              </a:rPr>
              <a:t>•  </a:t>
            </a:r>
            <a:r>
              <a:rPr sz="1250" b="0">
                <a:solidFill>
                  <a:srgbClr val="0B1F3A"/>
                </a:solidFill>
                <a:latin typeface="맑은 고딕"/>
              </a:rPr>
              <a:t>상위 3개 차이 </a:t>
            </a:r>
            <a:r>
              <a:rPr sz="1250" b="1">
                <a:solidFill>
                  <a:srgbClr val="0B1F3A"/>
                </a:solidFill>
                <a:latin typeface="맑은 고딕"/>
              </a:rPr>
              <a:t>0.003</a:t>
            </a:r>
            <a:r>
              <a:rPr sz="1250" b="0">
                <a:solidFill>
                  <a:srgbClr val="0B1F3A"/>
                </a:solidFill>
                <a:latin typeface="맑은 고딕"/>
              </a:rPr>
              <a:t>, fold 표준편차 0.110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0E8C87"/>
                </a:solidFill>
                <a:latin typeface="맑은 고딕"/>
              </a:rPr>
              <a:t>•  </a:t>
            </a:r>
            <a:r>
              <a:rPr sz="1250" b="1">
                <a:solidFill>
                  <a:srgbClr val="0B1F3A"/>
                </a:solidFill>
                <a:latin typeface="맑은 고딕"/>
              </a:rPr>
              <a:t>임계값 F1 은 선정에 쓰지 않음: </a:t>
            </a:r>
            <a:r>
              <a:rPr sz="1250" b="0">
                <a:solidFill>
                  <a:srgbClr val="0B1F3A"/>
                </a:solidFill>
                <a:latin typeface="맑은 고딕"/>
              </a:rPr>
              <a:t>fold당 불량 6~7건이라 불안정. 운영 기준 F1@20% 는 최종모델 1위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0E8C87"/>
                </a:solidFill>
                <a:latin typeface="맑은 고딕"/>
              </a:rPr>
              <a:t>•  </a:t>
            </a:r>
            <a:r>
              <a:rPr sz="1250" b="1">
                <a:solidFill>
                  <a:srgbClr val="0B1F3A"/>
                </a:solidFill>
                <a:latin typeface="맑은 고딕"/>
              </a:rPr>
              <a:t>학습 불량 34건: </a:t>
            </a:r>
            <a:r>
              <a:rPr sz="1250" b="0">
                <a:solidFill>
                  <a:srgbClr val="0B1F3A"/>
                </a:solidFill>
                <a:latin typeface="맑은 고딕"/>
              </a:rPr>
              <a:t>복잡한 부스팅의 이점이 작음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0E8C87"/>
                </a:solidFill>
                <a:latin typeface="맑은 고딕"/>
              </a:rPr>
              <a:t>•  </a:t>
            </a:r>
            <a:r>
              <a:rPr sz="1250" b="1">
                <a:solidFill>
                  <a:srgbClr val="0B1F3A"/>
                </a:solidFill>
                <a:latin typeface="맑은 고딕"/>
              </a:rPr>
              <a:t>하이퍼파라미터 고정: </a:t>
            </a:r>
            <a:r>
              <a:rPr sz="1250" b="0">
                <a:solidFill>
                  <a:srgbClr val="0B1F3A"/>
                </a:solidFill>
                <a:latin typeface="맑은 고딕"/>
              </a:rPr>
              <a:t>fold당 불량 6~7건이라 튜닝은 잡음에 좌우됨, 과적합을 줄이는 값으로 고정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532120"/>
            <a:ext cx="11091672" cy="68580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32120"/>
            <a:ext cx="10634472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B1F3A"/>
                </a:solidFill>
                <a:latin typeface="맑은 고딕"/>
              </a:rPr>
              <a:t>최종모델은 상위권과 비슷한 수준으로 해석. 어느 상위 모델을 써도 운영상 결론은 크게 다르지 않음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E8C87"/>
                </a:solidFill>
                <a:latin typeface="맑은 고딕"/>
              </a:rPr>
              <a:t>QUALITY PRIORITY  ·  10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658368"/>
            <a:ext cx="11094415" cy="0"/>
          </a:xfrm>
          <a:prstGeom prst="line">
            <a:avLst/>
          </a:prstGeom>
          <a:ln w="9525">
            <a:solidFill>
              <a:srgbClr val="D5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786384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B1F3A"/>
                </a:solidFill>
                <a:latin typeface="맑은 고딕"/>
              </a:rPr>
              <a:t>모델 차이보다 추정 캐비티 효과가 크다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470"/>
                </a:solidFill>
                <a:latin typeface="맑은 고딕"/>
              </a:rPr>
              <a:t>출처  outputs/significance.csv · imbalance_cv.csv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0E8C87"/>
                </a:solidFill>
                <a:latin typeface="맑은 고딕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F3A"/>
                </a:solidFill>
                <a:latin typeface="맑은 고딕"/>
              </a:rPr>
              <a:t>① 최종모델 대비 짝 비교 (25 fold, PR-AUC)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557784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914400"/>
                <a:gridCol w="1051560"/>
                <a:gridCol w="1051560"/>
              </a:tblGrid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비교 대상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승/패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보정 t p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Holm p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B1F3A"/>
                          </a:solidFill>
                          <a:latin typeface="맑은 고딕"/>
                        </a:rPr>
                        <a:t>RF + ET 앙상블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B1F3A"/>
                          </a:solidFill>
                          <a:latin typeface="맑은 고딕"/>
                        </a:rPr>
                        <a:t>15/10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B1F3A"/>
                          </a:solidFill>
                          <a:latin typeface="맑은 고딕"/>
                        </a:rPr>
                        <a:t>0.872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B1F3A"/>
                          </a:solidFill>
                          <a:latin typeface="맑은 고딕"/>
                        </a:rPr>
                        <a:t>1.000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B1F3A"/>
                          </a:solidFill>
                          <a:latin typeface="맑은 고딕"/>
                        </a:rPr>
                        <a:t>CatBoost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B1F3A"/>
                          </a:solidFill>
                          <a:latin typeface="맑은 고딕"/>
                        </a:rPr>
                        <a:t>14/11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B1F3A"/>
                          </a:solidFill>
                          <a:latin typeface="맑은 고딕"/>
                        </a:rPr>
                        <a:t>0.944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B1F3A"/>
                          </a:solidFill>
                          <a:latin typeface="맑은 고딕"/>
                        </a:rPr>
                        <a:t>1.000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B1F3A"/>
                          </a:solidFill>
                          <a:latin typeface="맑은 고딕"/>
                        </a:rPr>
                        <a:t>RandomForest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B1F3A"/>
                          </a:solidFill>
                          <a:latin typeface="맑은 고딕"/>
                        </a:rPr>
                        <a:t>17/8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B1F3A"/>
                          </a:solidFill>
                          <a:latin typeface="맑은 고딕"/>
                        </a:rPr>
                        <a:t>0.695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B1F3A"/>
                          </a:solidFill>
                          <a:latin typeface="맑은 고딕"/>
                        </a:rPr>
                        <a:t>1.000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B1F3A"/>
                          </a:solidFill>
                          <a:latin typeface="맑은 고딕"/>
                        </a:rPr>
                        <a:t>LR (베이스라인)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B1F3A"/>
                          </a:solidFill>
                          <a:latin typeface="맑은 고딕"/>
                        </a:rPr>
                        <a:t>20/5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B1F3A"/>
                          </a:solidFill>
                          <a:latin typeface="맑은 고딕"/>
                        </a:rPr>
                        <a:t>0.316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B1F3A"/>
                          </a:solidFill>
                          <a:latin typeface="맑은 고딕"/>
                        </a:rPr>
                        <a:t>1.000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B1F3A"/>
                          </a:solidFill>
                          <a:latin typeface="맑은 고딕"/>
                        </a:rPr>
                        <a:t>ExtraTrees (캐비티 제외)</a:t>
                      </a:r>
                    </a:p>
                  </a:txBody>
                  <a:tcPr marL="73152" marR="73152" marT="27432" marB="27432" anchor="ctr">
                    <a:solidFill>
                      <a:srgbClr val="FDEF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0B1F3A"/>
                          </a:solidFill>
                          <a:latin typeface="맑은 고딕"/>
                        </a:rPr>
                        <a:t>25/0</a:t>
                      </a:r>
                    </a:p>
                  </a:txBody>
                  <a:tcPr marL="73152" marR="73152" marT="27432" marB="27432" anchor="ctr">
                    <a:solidFill>
                      <a:srgbClr val="FDEF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0B1F3A"/>
                          </a:solidFill>
                          <a:latin typeface="맑은 고딕"/>
                        </a:rPr>
                        <a:t>0.001</a:t>
                      </a:r>
                    </a:p>
                  </a:txBody>
                  <a:tcPr marL="73152" marR="73152" marT="27432" marB="27432" anchor="ctr">
                    <a:solidFill>
                      <a:srgbClr val="FDEF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0B1F3A"/>
                          </a:solidFill>
                          <a:latin typeface="맑은 고딕"/>
                        </a:rPr>
                        <a:t>0.011</a:t>
                      </a:r>
                    </a:p>
                  </a:txBody>
                  <a:tcPr marL="73152" marR="73152" marT="27432" marB="27432" anchor="ctr">
                    <a:solidFill>
                      <a:srgbClr val="FDEFE3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754880"/>
            <a:ext cx="5577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5B6470"/>
                </a:solidFill>
                <a:latin typeface="맑은 고딕"/>
              </a:rPr>
              <a:t>Recall@20%: 보정 t p&lt;0.05 7개 → Holm 보정 후 0개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6002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F3A"/>
                </a:solidFill>
                <a:latin typeface="맑은 고딕"/>
              </a:rPr>
              <a:t>② 불균형 처리 비교 (최종모델 구조)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6400800" y="1965960"/>
          <a:ext cx="5257800" cy="3383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48640" y="5532120"/>
            <a:ext cx="11091672" cy="685800"/>
          </a:xfrm>
          <a:prstGeom prst="roundRect">
            <a:avLst>
              <a:gd name="adj" fmla="val 6000"/>
            </a:avLst>
          </a:prstGeom>
          <a:solidFill>
            <a:srgbClr val="FD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532120"/>
            <a:ext cx="10634472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F3A"/>
                </a:solidFill>
                <a:latin typeface="맑은 고딕"/>
              </a:rPr>
              <a:t>가중치 유무 차이는 유의하지 않음(p=0.66) → 설계값 유지. SMOTE 계열은 같은 공정값의 짝 사이에 합성 표본을 만들어 효과 없음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E8C87"/>
                </a:solidFill>
                <a:latin typeface="맑은 고딕"/>
              </a:rPr>
              <a:t>QUALITY PRIORITY  ·  11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658368"/>
            <a:ext cx="11094415" cy="0"/>
          </a:xfrm>
          <a:prstGeom prst="line">
            <a:avLst/>
          </a:prstGeom>
          <a:ln w="9525">
            <a:solidFill>
              <a:srgbClr val="D5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786384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B1F3A"/>
                </a:solidFill>
                <a:latin typeface="맑은 고딕"/>
              </a:rPr>
              <a:t>더 복잡한 모델은 이득이 없었다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470"/>
                </a:solidFill>
                <a:latin typeface="맑은 고딕"/>
              </a:rPr>
              <a:t>출처  outputs/dl_stacking_cv.csv · autoencoder_cv.csv · product_model_cv.csv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0E8C87"/>
                </a:solidFill>
                <a:latin typeface="맑은 고딕"/>
              </a:rP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0200"/>
          <a:ext cx="69494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377440"/>
                <a:gridCol w="1005840"/>
                <a:gridCol w="1188720"/>
                <a:gridCol w="9144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방식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모델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PR-AUC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Recall@20%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ET 대비 승/패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B1F3A"/>
                          </a:solidFill>
                          <a:latin typeface="맑은 고딕"/>
                        </a:rPr>
                        <a:t>배깅 앙상블</a:t>
                      </a:r>
                    </a:p>
                  </a:txBody>
                  <a:tcPr marL="73152" marR="73152" marT="27432" marB="27432" anchor="ctr">
                    <a:solidFill>
                      <a:srgbClr val="FDEF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B1F3A"/>
                          </a:solidFill>
                          <a:latin typeface="맑은 고딕"/>
                        </a:rPr>
                        <a:t>ExtraTrees ★</a:t>
                      </a:r>
                    </a:p>
                  </a:txBody>
                  <a:tcPr marL="73152" marR="73152" marT="27432" marB="27432" anchor="ctr">
                    <a:solidFill>
                      <a:srgbClr val="FDEF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B1F3A"/>
                          </a:solidFill>
                          <a:latin typeface="맑은 고딕"/>
                        </a:rPr>
                        <a:t>0.121</a:t>
                      </a:r>
                    </a:p>
                  </a:txBody>
                  <a:tcPr marL="73152" marR="73152" marT="27432" marB="27432" anchor="ctr">
                    <a:solidFill>
                      <a:srgbClr val="FDEF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B1F3A"/>
                          </a:solidFill>
                          <a:latin typeface="맑은 고딕"/>
                        </a:rPr>
                        <a:t>0.700</a:t>
                      </a:r>
                    </a:p>
                  </a:txBody>
                  <a:tcPr marL="73152" marR="73152" marT="27432" marB="27432" anchor="ctr">
                    <a:solidFill>
                      <a:srgbClr val="FDEF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B1F3A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FDEFE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스태킹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ET·RF·XGB·LR → LR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0.109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0.598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9/16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딥러닝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MLP 32-16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0.064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0.493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4/21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딥러닝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MLP 64-32-16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0.062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0.512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1/24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비지도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오토인코더 (양품 학습)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0.114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0.302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572000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470"/>
                </a:solidFill>
                <a:latin typeface="맑은 고딕"/>
              </a:rPr>
              <a:t>같은 25개 fold · 스태킹 내부 CV도 사출 그룹 단위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60020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E8C87"/>
                </a:solidFill>
                <a:latin typeface="맑은 고딕"/>
              </a:rPr>
              <a:t>통합 모델 vs 제품별 모델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863840" y="2057400"/>
          <a:ext cx="3776472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34440"/>
                <a:gridCol w="1261872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PR-AUC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통합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제품별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CN7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0.258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0.266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RG3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0.083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0.081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863840" y="3657600"/>
            <a:ext cx="3776472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E8C87"/>
                </a:solidFill>
                <a:latin typeface="맑은 고딕"/>
              </a:rPr>
              <a:t>•  </a:t>
            </a:r>
            <a:r>
              <a:rPr sz="1200" b="0">
                <a:solidFill>
                  <a:srgbClr val="0B1F3A"/>
                </a:solidFill>
                <a:latin typeface="맑은 고딕"/>
              </a:rPr>
              <a:t>차이가 작아 관리가 단순한 통합 모델 사용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E8C87"/>
                </a:solidFill>
                <a:latin typeface="맑은 고딕"/>
              </a:rPr>
              <a:t>•  </a:t>
            </a:r>
            <a:r>
              <a:rPr sz="1200" b="0">
                <a:solidFill>
                  <a:srgbClr val="0B1F3A"/>
                </a:solidFill>
                <a:latin typeface="맑은 고딕"/>
              </a:rPr>
              <a:t>CNN·LSTM은 이미지·시계열용이라 표 데이터에 쓰지 않음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532120"/>
            <a:ext cx="11091672" cy="685800"/>
          </a:xfrm>
          <a:prstGeom prst="roundRect">
            <a:avLst>
              <a:gd name="adj" fmla="val 6000"/>
            </a:avLst>
          </a:prstGeom>
          <a:solidFill>
            <a:srgbClr val="FD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532120"/>
            <a:ext cx="10634472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B1F3A"/>
                </a:solidFill>
                <a:latin typeface="맑은 고딕"/>
              </a:rPr>
              <a:t>데이터 규모와 형태에 맞는 모델: 불량 수십 건에서는 단순한 배깅 앙상블이 가장 안정적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E8C87"/>
                </a:solidFill>
                <a:latin typeface="맑은 고딕"/>
              </a:rPr>
              <a:t>QUALITY PRIORITY  ·  12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658368"/>
            <a:ext cx="11094415" cy="0"/>
          </a:xfrm>
          <a:prstGeom prst="line">
            <a:avLst/>
          </a:prstGeom>
          <a:ln w="9525">
            <a:solidFill>
              <a:srgbClr val="D5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786384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B1F3A"/>
                </a:solidFill>
                <a:latin typeface="맑은 고딕"/>
              </a:rPr>
              <a:t>같은 시기 사출을 빼면 성능이 크게 낮아진다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470"/>
                </a:solidFill>
                <a:latin typeface="맑은 고딕"/>
              </a:rPr>
              <a:t>출처  outputs/time_block_cv.csv · forward_cv.csv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0E8C87"/>
                </a:solidFill>
                <a:latin typeface="맑은 고딕"/>
              </a:rPr>
              <a:t>12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554480"/>
          <a:ext cx="6400800" cy="3886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4864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470"/>
                </a:solidFill>
                <a:latin typeface="맑은 고딕"/>
              </a:rPr>
              <a:t>최종모델 ExtraTrees + 추정 캐비티 · 무작위 PR-AUC = 0.018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645920"/>
            <a:ext cx="4325112" cy="1325880"/>
          </a:xfrm>
          <a:prstGeom prst="roundRect">
            <a:avLst>
              <a:gd name="adj" fmla="val 6000"/>
            </a:avLst>
          </a:prstGeom>
          <a:solidFill>
            <a:srgbClr val="FD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1810512"/>
            <a:ext cx="3867912" cy="7292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F07D21"/>
                </a:solidFill>
                <a:latin typeface="맑은 고딕"/>
              </a:rPr>
              <a:t>N/A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467965"/>
            <a:ext cx="3867912" cy="450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0B1F3A"/>
                </a:solidFill>
                <a:latin typeface="맑은 고딕"/>
              </a:rPr>
              <a:t>③ 과거→미래: CN7 평가 구간 4개 모두 불량 0건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3154680"/>
            <a:ext cx="4325112" cy="228600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324612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E8C87"/>
                </a:solidFill>
                <a:latin typeface="맑은 고딕"/>
              </a:rPr>
              <a:t>③ 과거→미래: RG3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3657600"/>
            <a:ext cx="3977639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0E8C87"/>
                </a:solidFill>
                <a:latin typeface="맑은 고딕"/>
              </a:rPr>
              <a:t>•  </a:t>
            </a:r>
            <a:r>
              <a:rPr sz="1150" b="0">
                <a:solidFill>
                  <a:srgbClr val="0B1F3A"/>
                </a:solidFill>
                <a:latin typeface="맑은 고딕"/>
              </a:rPr>
              <a:t>PR-AUC </a:t>
            </a:r>
            <a:r>
              <a:rPr sz="1150" b="1">
                <a:solidFill>
                  <a:srgbClr val="0B1F3A"/>
                </a:solidFill>
                <a:latin typeface="맑은 고딕"/>
              </a:rPr>
              <a:t>0.026~0.063</a:t>
            </a:r>
            <a:r>
              <a:rPr sz="1150" b="0">
                <a:solidFill>
                  <a:srgbClr val="0B1F3A"/>
                </a:solidFill>
                <a:latin typeface="맑은 고딕"/>
              </a:rPr>
              <a:t> (무작위 0.016~0.043)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0E8C87"/>
                </a:solidFill>
                <a:latin typeface="맑은 고딕"/>
              </a:rPr>
              <a:t>•  </a:t>
            </a:r>
            <a:r>
              <a:rPr sz="1150" b="0">
                <a:solidFill>
                  <a:srgbClr val="0B1F3A"/>
                </a:solidFill>
                <a:latin typeface="맑은 고딕"/>
              </a:rPr>
              <a:t>구간당 불량 3~8건이라 변동이 큼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0E8C87"/>
                </a:solidFill>
                <a:latin typeface="맑은 고딕"/>
              </a:rPr>
              <a:t>•  </a:t>
            </a:r>
            <a:r>
              <a:rPr sz="1150" b="0">
                <a:solidFill>
                  <a:srgbClr val="0B1F3A"/>
                </a:solidFill>
                <a:latin typeface="맑은 고딕"/>
              </a:rPr>
              <a:t>추정 캐비티 효과는 블록 CV 에서도 유지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852160"/>
            <a:ext cx="11091672" cy="502920"/>
          </a:xfrm>
          <a:prstGeom prst="roundRect">
            <a:avLst>
              <a:gd name="adj" fmla="val 6000"/>
            </a:avLst>
          </a:prstGeom>
          <a:solidFill>
            <a:srgbClr val="FD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852160"/>
            <a:ext cx="1063447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1F3A"/>
                </a:solidFill>
                <a:latin typeface="맑은 고딕"/>
              </a:rPr>
              <a:t>운영: 검사 결과를 라벨로 쌓아 재학습 · 처음 보는 불안정 구간은 규칙과 공정 흔들림 경보로 대응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E8C87"/>
                </a:solidFill>
                <a:latin typeface="맑은 고딕"/>
              </a:rPr>
              <a:t>QUALITY PRIORITY  ·  13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658368"/>
            <a:ext cx="11094415" cy="0"/>
          </a:xfrm>
          <a:prstGeom prst="line">
            <a:avLst/>
          </a:prstGeom>
          <a:ln w="9525">
            <a:solidFill>
              <a:srgbClr val="D5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786384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B1F3A"/>
                </a:solidFill>
                <a:latin typeface="맑은 고딕"/>
              </a:rPr>
              <a:t>테스트 불량은 8건뿐, 판정은 임계값보다 검사 용량 기준으로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470"/>
                </a:solidFill>
                <a:latin typeface="맑은 고딕"/>
              </a:rPr>
              <a:t>출처  outputs/test_metrics.json · test_bootstrap_ci.csv · oof_threshold_views.csv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0E8C87"/>
                </a:solidFill>
                <a:latin typeface="맑은 고딕"/>
              </a:rPr>
              <a:t>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45920"/>
          <a:ext cx="60350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560320"/>
                <a:gridCol w="1005840"/>
                <a:gridCol w="137160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범위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PR-AUC (95% CI)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ROC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Recall@20%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B1F3A"/>
                          </a:solidFill>
                          <a:latin typeface="맑은 고딕"/>
                        </a:rPr>
                        <a:t>전체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0B1F3A"/>
                          </a:solidFill>
                          <a:latin typeface="맑은 고딕"/>
                        </a:rPr>
                        <a:t>0.343 (0.015~0.706)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0B1F3A"/>
                          </a:solidFill>
                          <a:latin typeface="맑은 고딕"/>
                        </a:rPr>
                        <a:t>0.781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0B1F3A"/>
                          </a:solidFill>
                          <a:latin typeface="맑은 고딕"/>
                        </a:rPr>
                        <a:t>0.500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B1F3A"/>
                          </a:solidFill>
                          <a:latin typeface="맑은 고딕"/>
                        </a:rPr>
                        <a:t>CN7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0B1F3A"/>
                          </a:solidFill>
                          <a:latin typeface="맑은 고딕"/>
                        </a:rPr>
                        <a:t>0.674 (0.111~1.000)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0B1F3A"/>
                          </a:solidFill>
                          <a:latin typeface="맑은 고딕"/>
                        </a:rPr>
                        <a:t>0.987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0B1F3A"/>
                          </a:solidFill>
                          <a:latin typeface="맑은 고딕"/>
                        </a:rPr>
                        <a:t>1.000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B1F3A"/>
                          </a:solidFill>
                          <a:latin typeface="맑은 고딕"/>
                        </a:rPr>
                        <a:t>RG3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0B1F3A"/>
                          </a:solidFill>
                          <a:latin typeface="맑은 고딕"/>
                        </a:rPr>
                        <a:t>0.017 (0.007~0.042)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0B1F3A"/>
                          </a:solidFill>
                          <a:latin typeface="맑은 고딕"/>
                        </a:rPr>
                        <a:t>0.391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0B1F3A"/>
                          </a:solidFill>
                          <a:latin typeface="맑은 고딕"/>
                        </a:rPr>
                        <a:t>0.000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749039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470"/>
                </a:solidFill>
                <a:latin typeface="맑은 고딕"/>
              </a:rPr>
              <a:t>사출 그룹 부트스트랩 1000회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60020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F3A"/>
                </a:solidFill>
                <a:latin typeface="맑은 고딕"/>
              </a:rPr>
              <a:t>개발셋 OOF 판정 기준별 비교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949440" y="2057400"/>
          <a:ext cx="469087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822960"/>
                <a:gridCol w="822960"/>
                <a:gridCol w="850392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기준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TP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FN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FP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A. fold 임계값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3~12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22~31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99~205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B. 평균점수+공통임계값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26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371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B1F3A"/>
                          </a:solidFill>
                          <a:latin typeface="맑은 고딕"/>
                        </a:rPr>
                        <a:t>C. 제품별 상위 20%</a:t>
                      </a:r>
                    </a:p>
                  </a:txBody>
                  <a:tcPr marL="73152" marR="73152" marT="27432" marB="27432" anchor="ctr">
                    <a:solidFill>
                      <a:srgbClr val="FDEF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B1F3A"/>
                          </a:solidFill>
                          <a:latin typeface="맑은 고딕"/>
                        </a:rPr>
                        <a:t>22</a:t>
                      </a:r>
                    </a:p>
                  </a:txBody>
                  <a:tcPr marL="73152" marR="73152" marT="27432" marB="27432" anchor="ctr">
                    <a:solidFill>
                      <a:srgbClr val="FDEF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B1F3A"/>
                          </a:solidFill>
                          <a:latin typeface="맑은 고딕"/>
                        </a:rPr>
                        <a:t>12</a:t>
                      </a:r>
                    </a:p>
                  </a:txBody>
                  <a:tcPr marL="73152" marR="73152" marT="27432" marB="27432" anchor="ctr">
                    <a:solidFill>
                      <a:srgbClr val="FDEF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B1F3A"/>
                          </a:solidFill>
                          <a:latin typeface="맑은 고딕"/>
                        </a:rPr>
                        <a:t>360</a:t>
                      </a:r>
                    </a:p>
                  </a:txBody>
                  <a:tcPr marL="73152" marR="73152" marT="27432" marB="27432" anchor="ctr">
                    <a:solidFill>
                      <a:srgbClr val="FDEFE3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949440" y="4023360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B6470"/>
                </a:solidFill>
                <a:latin typeface="맑은 고딕"/>
              </a:rPr>
              <a:t>fold 임계값 0.028~0.432로 흩어짐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46320"/>
            <a:ext cx="11091672" cy="1280160"/>
          </a:xfrm>
          <a:prstGeom prst="roundRect">
            <a:avLst>
              <a:gd name="adj" fmla="val 6000"/>
            </a:avLst>
          </a:prstGeom>
          <a:solidFill>
            <a:srgbClr val="E6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846320"/>
            <a:ext cx="10634472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0B1F3A"/>
                </a:solidFill>
                <a:latin typeface="맑은 고딕"/>
              </a:rPr>
              <a:t>CN7 테스트 불량 4/4 를 상위 5% 안에서 포착, RG3 0/4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B1F3A"/>
                </a:solidFill>
                <a:latin typeface="맑은 고딕"/>
              </a:rPr>
              <a:t>결론은 개발셋 CV 와 시간 검증 중심으로, 운영과 오류분석은 C 기준(검사 용량)으로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E8C87"/>
                </a:solidFill>
                <a:latin typeface="맑은 고딕"/>
              </a:rPr>
              <a:t>QUALITY PRIORITY  ·  14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658368"/>
            <a:ext cx="11094415" cy="0"/>
          </a:xfrm>
          <a:prstGeom prst="line">
            <a:avLst/>
          </a:prstGeom>
          <a:ln w="9525">
            <a:solidFill>
              <a:srgbClr val="D5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786384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B1F3A"/>
                </a:solidFill>
                <a:latin typeface="맑은 고딕"/>
              </a:rPr>
              <a:t>순위는 보정 전 점수로, 화면에는 보정 확률로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470"/>
                </a:solidFill>
                <a:latin typeface="맑은 고딕"/>
              </a:rPr>
              <a:t>출처  outputs/calibration_cv.csv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0E8C87"/>
                </a:solidFill>
                <a:latin typeface="맑은 고딕"/>
              </a:rPr>
              <a:t>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45920"/>
          <a:ext cx="56692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280160"/>
                <a:gridCol w="1280160"/>
                <a:gridCol w="146304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방식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Brier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PR-AUC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평균 예측값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B1F3A"/>
                          </a:solidFill>
                          <a:latin typeface="맑은 고딕"/>
                        </a:rPr>
                        <a:t>보정 없음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B1F3A"/>
                          </a:solidFill>
                          <a:latin typeface="맑은 고딕"/>
                        </a:rPr>
                        <a:t>0.0186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B1F3A"/>
                          </a:solidFill>
                          <a:latin typeface="맑은 고딕"/>
                        </a:rPr>
                        <a:t>0.121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B1F3A"/>
                          </a:solidFill>
                          <a:latin typeface="맑은 고딕"/>
                        </a:rPr>
                        <a:t>0.034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B1F3A"/>
                          </a:solidFill>
                          <a:latin typeface="맑은 고딕"/>
                        </a:rPr>
                        <a:t>sigmoid</a:t>
                      </a:r>
                    </a:p>
                  </a:txBody>
                  <a:tcPr marL="73152" marR="73152" marT="27432" marB="27432" anchor="ctr">
                    <a:solidFill>
                      <a:srgbClr val="FDEF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B1F3A"/>
                          </a:solidFill>
                          <a:latin typeface="맑은 고딕"/>
                        </a:rPr>
                        <a:t>0.0173</a:t>
                      </a:r>
                    </a:p>
                  </a:txBody>
                  <a:tcPr marL="73152" marR="73152" marT="27432" marB="27432" anchor="ctr">
                    <a:solidFill>
                      <a:srgbClr val="FDEF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B1F3A"/>
                          </a:solidFill>
                          <a:latin typeface="맑은 고딕"/>
                        </a:rPr>
                        <a:t>0.117</a:t>
                      </a:r>
                    </a:p>
                  </a:txBody>
                  <a:tcPr marL="73152" marR="73152" marT="27432" marB="27432" anchor="ctr">
                    <a:solidFill>
                      <a:srgbClr val="FDEF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B1F3A"/>
                          </a:solidFill>
                          <a:latin typeface="맑은 고딕"/>
                        </a:rPr>
                        <a:t>0.018</a:t>
                      </a:r>
                    </a:p>
                  </a:txBody>
                  <a:tcPr marL="73152" marR="73152" marT="27432" marB="27432" anchor="ctr">
                    <a:solidFill>
                      <a:srgbClr val="FDEFE3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B1F3A"/>
                          </a:solidFill>
                          <a:latin typeface="맑은 고딕"/>
                        </a:rPr>
                        <a:t>isotonic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B1F3A"/>
                          </a:solidFill>
                          <a:latin typeface="맑은 고딕"/>
                        </a:rPr>
                        <a:t>0.0173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B1F3A"/>
                          </a:solidFill>
                          <a:latin typeface="맑은 고딕"/>
                        </a:rPr>
                        <a:t>0.085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B1F3A"/>
                          </a:solidFill>
                          <a:latin typeface="맑은 고딕"/>
                        </a:rPr>
                        <a:t>0.017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840480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B6470"/>
                </a:solidFill>
                <a:latin typeface="맑은 고딕"/>
              </a:rPr>
              <a:t>실제 불량률 0.018 · 같은 25개 fold</a:t>
            </a:r>
          </a:p>
        </p:txBody>
      </p:sp>
      <p:pic>
        <p:nvPicPr>
          <p:cNvPr id="9" name="Picture 8" descr="fig_c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600200"/>
            <a:ext cx="5120640" cy="201926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48640" y="4846320"/>
            <a:ext cx="11091672" cy="1280160"/>
          </a:xfrm>
          <a:prstGeom prst="roundRect">
            <a:avLst>
              <a:gd name="adj" fmla="val 6000"/>
            </a:avLst>
          </a:prstGeom>
          <a:solidFill>
            <a:srgbClr val="FD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846320"/>
            <a:ext cx="10634472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0B1F3A"/>
                </a:solidFill>
                <a:latin typeface="맑은 고딕"/>
              </a:rPr>
              <a:t>검사 순위: 보정 전 위험점수 · 현장 표시와 위험등급: sigmoid 보정 확률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B1F3A"/>
                </a:solidFill>
                <a:latin typeface="맑은 고딕"/>
              </a:rPr>
              <a:t>보정 확률도 불량 34건으로 추정한 값이라 무작위 표본 검사로 계속 확인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E8C87"/>
                </a:solidFill>
                <a:latin typeface="맑은 고딕"/>
              </a:rPr>
              <a:t>QUALITY PRIORITY  ·  15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658368"/>
            <a:ext cx="11094415" cy="0"/>
          </a:xfrm>
          <a:prstGeom prst="line">
            <a:avLst/>
          </a:prstGeom>
          <a:ln w="9525">
            <a:solidFill>
              <a:srgbClr val="D5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786384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B1F3A"/>
                </a:solidFill>
                <a:latin typeface="맑은 고딕"/>
              </a:rPr>
              <a:t>점수를 가장 크게 움직인 변수: 추정 캐비티와 형체 시간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470"/>
                </a:solidFill>
                <a:latin typeface="맑은 고딕"/>
              </a:rPr>
              <a:t>출처  노트북 3-1 · 3-2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0E8C87"/>
                </a:solidFill>
                <a:latin typeface="맑은 고딕"/>
              </a:rPr>
              <a:t>15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554480"/>
          <a:ext cx="6035040" cy="4663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pic>
        <p:nvPicPr>
          <p:cNvPr id="8" name="Picture 7" descr="fig_he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554480"/>
            <a:ext cx="4670733" cy="31546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949440" y="4892040"/>
            <a:ext cx="4690872" cy="1325880"/>
          </a:xfrm>
          <a:prstGeom prst="roundRect">
            <a:avLst>
              <a:gd name="adj" fmla="val 6000"/>
            </a:avLst>
          </a:prstGeom>
          <a:solidFill>
            <a:srgbClr val="FD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78040" y="4892040"/>
            <a:ext cx="4233672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F3A"/>
                </a:solidFill>
                <a:latin typeface="맑은 고딕"/>
              </a:rPr>
              <a:t>형체 시간 중상위 × 사출속도 최상위</a:t>
            </a:r>
          </a:p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07D21"/>
                </a:solidFill>
                <a:latin typeface="맑은 고딕"/>
              </a:rPr>
              <a:t>불량률 16.7% (4/24)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B1F3A"/>
                </a:solidFill>
                <a:latin typeface="맑은 고딕"/>
              </a:rPr>
              <a:t>표본이 작아 확인할 가설로 둠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E8C87"/>
                </a:solidFill>
                <a:latin typeface="맑은 고딕"/>
              </a:rPr>
              <a:t>QUALITY PRIORITY  ·  16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658368"/>
            <a:ext cx="11094415" cy="0"/>
          </a:xfrm>
          <a:prstGeom prst="line">
            <a:avLst/>
          </a:prstGeom>
          <a:ln w="9525">
            <a:solidFill>
              <a:srgbClr val="D5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786384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B1F3A"/>
                </a:solidFill>
                <a:latin typeface="맑은 고딕"/>
              </a:rPr>
              <a:t>놓친 불량은 대부분 RG3, CN7 오경보는 가동 초기에 몰린다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470"/>
                </a:solidFill>
                <a:latin typeface="맑은 고딕"/>
              </a:rPr>
              <a:t>출처  outputs/oof_dev.csv · op_concentration.csv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0E8C87"/>
                </a:solidFill>
                <a:latin typeface="맑은 고딕"/>
              </a:rPr>
              <a:t>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45920"/>
          <a:ext cx="51206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777240"/>
                <a:gridCol w="777240"/>
                <a:gridCol w="777240"/>
                <a:gridCol w="777240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제품·추정 캐비티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불량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TP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FN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FP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B1F3A"/>
                          </a:solidFill>
                          <a:latin typeface="맑은 고딕"/>
                        </a:rPr>
                        <a:t>CN7  캐비티 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0B1F3A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0B1F3A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0B1F3A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0B1F3A"/>
                          </a:solidFill>
                          <a:latin typeface="맑은 고딕"/>
                        </a:rPr>
                        <a:t>124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B1F3A"/>
                          </a:solidFill>
                          <a:latin typeface="맑은 고딕"/>
                        </a:rPr>
                        <a:t>CN7  캐비티 1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0B1F3A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0B1F3A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0B1F3A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0B1F3A"/>
                          </a:solidFill>
                          <a:latin typeface="맑은 고딕"/>
                        </a:rPr>
                        <a:t>57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B1F3A"/>
                          </a:solidFill>
                          <a:latin typeface="맑은 고딕"/>
                        </a:rPr>
                        <a:t>RG3  캐비티 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0B1F3A"/>
                          </a:solidFill>
                          <a:latin typeface="맑은 고딕"/>
                        </a:rPr>
                        <a:t>20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0B1F3A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0B1F3A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0B1F3A"/>
                          </a:solidFill>
                          <a:latin typeface="맑은 고딕"/>
                        </a:rPr>
                        <a:t>177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B1F3A"/>
                          </a:solidFill>
                          <a:latin typeface="맑은 고딕"/>
                        </a:rPr>
                        <a:t>RG3  캐비티 1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0B1F3A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0B1F3A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0B1F3A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0B1F3A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16052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B6470"/>
                </a:solidFill>
                <a:latin typeface="맑은 고딕"/>
              </a:rPr>
              <a:t>CN7 오경보 125건이 생산순번 0~20% (순번 0~238)에 집중</a:t>
            </a:r>
          </a:p>
        </p:txBody>
      </p:sp>
      <p:pic>
        <p:nvPicPr>
          <p:cNvPr id="9" name="Picture 8" descr="fig_oofse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600200"/>
            <a:ext cx="5715000" cy="235521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48640" y="5074920"/>
            <a:ext cx="11091672" cy="1097280"/>
          </a:xfrm>
          <a:prstGeom prst="roundRect">
            <a:avLst>
              <a:gd name="adj" fmla="val 6000"/>
            </a:avLst>
          </a:prstGeom>
          <a:solidFill>
            <a:srgbClr val="E6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074920"/>
            <a:ext cx="10634472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F3A"/>
                </a:solidFill>
                <a:latin typeface="맑은 고딕"/>
              </a:rPr>
              <a:t>RG3 의 FN 은 라벨 충돌 때문이라 모델 조정으로 줄이기 어려움 → 추정 캐비티0 샘플 검사로 보완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0B1F3A"/>
                </a:solidFill>
                <a:latin typeface="맑은 고딕"/>
              </a:rPr>
              <a:t>오류 규칙나무(깊이 3)는 불량 34건으로 만든 요약이라 가설로만 사용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E8C87"/>
                </a:solidFill>
                <a:latin typeface="맑은 고딕"/>
              </a:rPr>
              <a:t>QUALITY PRIORITY  ·  17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658368"/>
            <a:ext cx="11094415" cy="0"/>
          </a:xfrm>
          <a:prstGeom prst="line">
            <a:avLst/>
          </a:prstGeom>
          <a:ln w="9525">
            <a:solidFill>
              <a:srgbClr val="D5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786384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B1F3A"/>
                </a:solidFill>
                <a:latin typeface="맑은 고딕"/>
              </a:rPr>
              <a:t>검사 용량별 포착과 단순 규칙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470"/>
                </a:solidFill>
                <a:latin typeface="맑은 고딕"/>
              </a:rPr>
              <a:t>출처  outputs/capacity_table.csv · rule_baselines.csv (개발셋 OOF)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0E8C87"/>
                </a:solidFill>
                <a:latin typeface="맑은 고딕"/>
              </a:rPr>
              <a:t>17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554480"/>
          <a:ext cx="5852160" cy="4206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5760720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B6470"/>
                </a:solidFill>
                <a:latin typeface="맑은 고딕"/>
              </a:rPr>
              <a:t>x축: 검사 비율(제품별 위험점수 상위) · y축: 불량 포착률 (개발셋 OOF 합산)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675120" y="1645920"/>
          <a:ext cx="4965191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914400"/>
                <a:gridCol w="822960"/>
                <a:gridCol w="1033271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규칙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검사 비율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규칙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같은 양의 모델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B1F3A"/>
                          </a:solidFill>
                          <a:latin typeface="맑은 고딕"/>
                        </a:rPr>
                        <a:t>CN7 초기 50사출 전수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B1F3A"/>
                          </a:solidFill>
                          <a:latin typeface="맑은 고딕"/>
                        </a:rPr>
                        <a:t>10.3%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B1F3A"/>
                          </a:solidFill>
                          <a:latin typeface="맑은 고딕"/>
                        </a:rPr>
                        <a:t>100%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B1F3A"/>
                          </a:solidFill>
                          <a:latin typeface="맑은 고딕"/>
                        </a:rPr>
                        <a:t>92%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B1F3A"/>
                          </a:solidFill>
                          <a:latin typeface="맑은 고딕"/>
                        </a:rPr>
                        <a:t>CN7 초기 100사출 전수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B1F3A"/>
                          </a:solidFill>
                          <a:latin typeface="맑은 고딕"/>
                        </a:rPr>
                        <a:t>20.6%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B1F3A"/>
                          </a:solidFill>
                          <a:latin typeface="맑은 고딕"/>
                        </a:rPr>
                        <a:t>100%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B1F3A"/>
                          </a:solidFill>
                          <a:latin typeface="맑은 고딕"/>
                        </a:rPr>
                        <a:t>92%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B1F3A"/>
                          </a:solidFill>
                          <a:latin typeface="맑은 고딕"/>
                        </a:rPr>
                        <a:t>추정 캐비티0 전수 (전체)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B1F3A"/>
                          </a:solidFill>
                          <a:latin typeface="맑은 고딕"/>
                        </a:rPr>
                        <a:t>50.0%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B1F3A"/>
                          </a:solidFill>
                          <a:latin typeface="맑은 고딕"/>
                        </a:rPr>
                        <a:t>88%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B1F3A"/>
                          </a:solidFill>
                          <a:latin typeface="맑은 고딕"/>
                        </a:rPr>
                        <a:t>94%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B1F3A"/>
                          </a:solidFill>
                          <a:latin typeface="맑은 고딕"/>
                        </a:rPr>
                        <a:t>추정 캐비티0 전수 (RG3)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B1F3A"/>
                          </a:solidFill>
                          <a:latin typeface="맑은 고딕"/>
                        </a:rPr>
                        <a:t>50.0%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B1F3A"/>
                          </a:solidFill>
                          <a:latin typeface="맑은 고딕"/>
                        </a:rPr>
                        <a:t>95%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B1F3A"/>
                          </a:solidFill>
                          <a:latin typeface="맑은 고딕"/>
                        </a:rPr>
                        <a:t>90%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675120" y="4206240"/>
            <a:ext cx="4965192" cy="1920240"/>
          </a:xfrm>
          <a:prstGeom prst="roundRect">
            <a:avLst>
              <a:gd name="adj" fmla="val 6000"/>
            </a:avLst>
          </a:prstGeom>
          <a:solidFill>
            <a:srgbClr val="FD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4206240"/>
            <a:ext cx="4507992" cy="1920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F3A"/>
                </a:solidFill>
                <a:latin typeface="맑은 고딕"/>
              </a:rPr>
              <a:t>가동 초기·금형 교체 직후: 규칙으로 강화검사</a:t>
            </a:r>
          </a:p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F3A"/>
                </a:solidFill>
                <a:latin typeface="맑은 고딕"/>
              </a:rPr>
              <a:t>안정 구간: 모델 상위 k% 검사</a:t>
            </a:r>
          </a:p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F3A"/>
                </a:solidFill>
                <a:latin typeface="맑은 고딕"/>
              </a:rPr>
              <a:t>RG3: 추정 캐비티0 샘플 검사 병행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E8C87"/>
                </a:solidFill>
                <a:latin typeface="맑은 고딕"/>
              </a:rPr>
              <a:t>QUALITY PRIORITY  ·  18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658368"/>
            <a:ext cx="11094415" cy="0"/>
          </a:xfrm>
          <a:prstGeom prst="line">
            <a:avLst/>
          </a:prstGeom>
          <a:ln w="9525">
            <a:solidFill>
              <a:srgbClr val="D5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786384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B1F3A"/>
                </a:solidFill>
                <a:latin typeface="맑은 고딕"/>
              </a:rPr>
              <a:t>위험 등급의 불량률은 정상의 24배, 확인할 변수도 함께 제시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470"/>
                </a:solidFill>
                <a:latin typeface="맑은 고딕"/>
              </a:rPr>
              <a:t>출처  outputs/test_predictions.csv (contrib_1~3)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0E8C87"/>
                </a:solidFill>
                <a:latin typeface="맑은 고딕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3520440" cy="178308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8FD3CF"/>
                </a:solidFill>
                <a:latin typeface="맑은 고딕"/>
              </a:rPr>
              <a:t>위험 · 상위 10%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1168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맑은 고딕"/>
              </a:rPr>
              <a:t>191</a:t>
            </a:r>
            <a:r>
              <a:rPr sz="1400" b="1" i="0">
                <a:solidFill>
                  <a:srgbClr val="FFFFFF"/>
                </a:solidFill>
                <a:latin typeface="맑은 고딕"/>
              </a:rPr>
              <a:t>  불량 14 · 7.3%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889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맑은 고딕"/>
              </a:rPr>
              <a:t>같은 사출 그룹 2개 모두 검사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600200"/>
            <a:ext cx="3520440" cy="1783080"/>
          </a:xfrm>
          <a:prstGeom prst="roundRect">
            <a:avLst>
              <a:gd name="adj" fmla="val 6000"/>
            </a:avLst>
          </a:prstGeom>
          <a:solidFill>
            <a:srgbClr val="F07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79" y="171907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맑은 고딕"/>
              </a:rPr>
              <a:t>주의 · 다음 20%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201168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맑은 고딕"/>
              </a:rPr>
              <a:t>382</a:t>
            </a:r>
            <a:r>
              <a:rPr sz="1400" b="1" i="0">
                <a:solidFill>
                  <a:srgbClr val="FFFFFF"/>
                </a:solidFill>
                <a:latin typeface="맑은 고딕"/>
              </a:rPr>
              <a:t>  불량 16 · 4.2%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79" y="27889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맑은 고딕"/>
              </a:rPr>
              <a:t>그룹 중 1개 샘플 검사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600200"/>
            <a:ext cx="3520440" cy="1783080"/>
          </a:xfrm>
          <a:prstGeom prst="roundRect">
            <a:avLst>
              <a:gd name="adj" fmla="val 6000"/>
            </a:avLst>
          </a:prstGeom>
          <a:solidFill>
            <a:srgbClr val="E6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71907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E8C87"/>
                </a:solidFill>
                <a:latin typeface="맑은 고딕"/>
              </a:rPr>
              <a:t>정상 · 하위 70%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01168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B1F3A"/>
                </a:solidFill>
                <a:latin typeface="맑은 고딕"/>
              </a:rPr>
              <a:t>1,336</a:t>
            </a:r>
            <a:r>
              <a:rPr sz="1400" b="1" i="0">
                <a:solidFill>
                  <a:srgbClr val="0B1F3A"/>
                </a:solidFill>
                <a:latin typeface="맑은 고딕"/>
              </a:rPr>
              <a:t>  불량 4 · 0.3%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7889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B1F3A"/>
                </a:solidFill>
                <a:latin typeface="맑은 고딕"/>
              </a:rPr>
              <a:t>기존 샘플링 + 무작위 표본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611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B1F3A"/>
                </a:solidFill>
                <a:latin typeface="맑은 고딕"/>
              </a:rPr>
              <a:t>테스트 예측결과 상위 예시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48640" y="4069080"/>
          <a:ext cx="11091671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600200"/>
                <a:gridCol w="1051560"/>
                <a:gridCol w="1051560"/>
                <a:gridCol w="2148840"/>
                <a:gridCol w="1874519"/>
                <a:gridCol w="1965960"/>
                <a:gridCol w="758952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순위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제품·추정 캐비티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위험점수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보정 확률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기여 변수 1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기여 변수 2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기여 변수 3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실제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B1F3A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B1F3A"/>
                          </a:solidFill>
                          <a:latin typeface="맑은 고딕"/>
                        </a:rPr>
                        <a:t>CN7 · 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B1F3A"/>
                          </a:solidFill>
                          <a:latin typeface="맑은 고딕"/>
                        </a:rPr>
                        <a:t>0.873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B1F3A"/>
                          </a:solidFill>
                          <a:latin typeface="맑은 고딕"/>
                        </a:rPr>
                        <a:t>0.474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B1F3A"/>
                          </a:solidFill>
                          <a:latin typeface="맑은 고딕"/>
                        </a:rPr>
                        <a:t>Max_Injection_Speed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B1F3A"/>
                          </a:solidFill>
                          <a:latin typeface="맑은 고딕"/>
                        </a:rPr>
                        <a:t>Filling_Time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B1F3A"/>
                          </a:solidFill>
                          <a:latin typeface="맑은 고딕"/>
                        </a:rPr>
                        <a:t>Cushion_Position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B1F3A"/>
                          </a:solidFill>
                          <a:latin typeface="맑은 고딕"/>
                        </a:rPr>
                        <a:t>불량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B1F3A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B1F3A"/>
                          </a:solidFill>
                          <a:latin typeface="맑은 고딕"/>
                        </a:rPr>
                        <a:t>CN7 · 0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B1F3A"/>
                          </a:solidFill>
                          <a:latin typeface="맑은 고딕"/>
                        </a:rPr>
                        <a:t>0.871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B1F3A"/>
                          </a:solidFill>
                          <a:latin typeface="맑은 고딕"/>
                        </a:rPr>
                        <a:t>0.476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B1F3A"/>
                          </a:solidFill>
                          <a:latin typeface="맑은 고딕"/>
                        </a:rPr>
                        <a:t>Max_Injection_Speed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B1F3A"/>
                          </a:solidFill>
                          <a:latin typeface="맑은 고딕"/>
                        </a:rPr>
                        <a:t>Filling_Time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B1F3A"/>
                          </a:solidFill>
                          <a:latin typeface="맑은 고딕"/>
                        </a:rPr>
                        <a:t>Clamp_Close_Time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B1F3A"/>
                          </a:solidFill>
                          <a:latin typeface="맑은 고딕"/>
                        </a:rPr>
                        <a:t>불량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B1F3A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B1F3A"/>
                          </a:solidFill>
                          <a:latin typeface="맑은 고딕"/>
                        </a:rPr>
                        <a:t>CN7 · 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B1F3A"/>
                          </a:solidFill>
                          <a:latin typeface="맑은 고딕"/>
                        </a:rPr>
                        <a:t>0.339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B1F3A"/>
                          </a:solidFill>
                          <a:latin typeface="맑은 고딕"/>
                        </a:rPr>
                        <a:t>0.228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B1F3A"/>
                          </a:solidFill>
                          <a:latin typeface="맑은 고딕"/>
                        </a:rPr>
                        <a:t>추정 cavity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B1F3A"/>
                          </a:solidFill>
                          <a:latin typeface="맑은 고딕"/>
                        </a:rPr>
                        <a:t>Clamp_Close_Time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B1F3A"/>
                          </a:solidFill>
                          <a:latin typeface="맑은 고딕"/>
                        </a:rPr>
                        <a:t>Plasticizing_Position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B1F3A"/>
                          </a:solidFill>
                          <a:latin typeface="맑은 고딕"/>
                        </a:rPr>
                        <a:t>양품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B1F3A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B1F3A"/>
                          </a:solidFill>
                          <a:latin typeface="맑은 고딕"/>
                        </a:rPr>
                        <a:t>CN7 · 0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B1F3A"/>
                          </a:solidFill>
                          <a:latin typeface="맑은 고딕"/>
                        </a:rPr>
                        <a:t>0.326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B1F3A"/>
                          </a:solidFill>
                          <a:latin typeface="맑은 고딕"/>
                        </a:rPr>
                        <a:t>0.166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B1F3A"/>
                          </a:solidFill>
                          <a:latin typeface="맑은 고딕"/>
                        </a:rPr>
                        <a:t>Clamp_Close_Time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B1F3A"/>
                          </a:solidFill>
                          <a:latin typeface="맑은 고딕"/>
                        </a:rPr>
                        <a:t>추정 cavity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B1F3A"/>
                          </a:solidFill>
                          <a:latin typeface="맑은 고딕"/>
                        </a:rPr>
                        <a:t>Mold_Temperature_4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B1F3A"/>
                          </a:solidFill>
                          <a:latin typeface="맑은 고딕"/>
                        </a:rPr>
                        <a:t>양품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E8C87"/>
                </a:solidFill>
                <a:latin typeface="맑은 고딕"/>
              </a:rPr>
              <a:t>QUALITY PRIORITY  ·  19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658368"/>
            <a:ext cx="11094415" cy="0"/>
          </a:xfrm>
          <a:prstGeom prst="line">
            <a:avLst/>
          </a:prstGeom>
          <a:ln w="9525">
            <a:solidFill>
              <a:srgbClr val="D5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786384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B1F3A"/>
                </a:solidFill>
                <a:latin typeface="맑은 고딕"/>
              </a:rPr>
              <a:t>비용 시나리오와 사전경보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470"/>
                </a:solidFill>
                <a:latin typeface="맑은 고딕"/>
              </a:rPr>
              <a:t>출처  outputs/cost_best.csv · early_warning_summary.csv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0E8C87"/>
                </a:solidFill>
                <a:latin typeface="맑은 고딕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F3A"/>
                </a:solidFill>
                <a:latin typeface="맑은 고딕"/>
              </a:rPr>
              <a:t>① 비용 시나리오 (가정)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11680"/>
          <a:ext cx="5394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783080"/>
                <a:gridCol w="178308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유출 : 검사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CN7 최적 검사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RG3 최적 검사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B1F3A"/>
                          </a:solidFill>
                          <a:latin typeface="맑은 고딕"/>
                        </a:rPr>
                        <a:t>10 : 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0B1F3A"/>
                          </a:solidFill>
                          <a:latin typeface="맑은 고딕"/>
                        </a:rPr>
                        <a:t>10%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0B1F3A"/>
                          </a:solidFill>
                          <a:latin typeface="맑은 고딕"/>
                        </a:rPr>
                        <a:t>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B1F3A"/>
                          </a:solidFill>
                          <a:latin typeface="맑은 고딕"/>
                        </a:rPr>
                        <a:t>20 : 1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0B1F3A"/>
                          </a:solidFill>
                          <a:latin typeface="맑은 고딕"/>
                        </a:rPr>
                        <a:t>10%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0B1F3A"/>
                          </a:solidFill>
                          <a:latin typeface="맑은 고딕"/>
                        </a:rPr>
                        <a:t>24%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B1F3A"/>
                          </a:solidFill>
                          <a:latin typeface="맑은 고딕"/>
                        </a:rPr>
                        <a:t>50 : 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0B1F3A"/>
                          </a:solidFill>
                          <a:latin typeface="맑은 고딕"/>
                        </a:rPr>
                        <a:t>10%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0B1F3A"/>
                          </a:solidFill>
                          <a:latin typeface="맑은 고딕"/>
                        </a:rPr>
                        <a:t>45%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B1F3A"/>
                          </a:solidFill>
                          <a:latin typeface="맑은 고딕"/>
                        </a:rPr>
                        <a:t>100 : 1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0B1F3A"/>
                          </a:solidFill>
                          <a:latin typeface="맑은 고딕"/>
                        </a:rPr>
                        <a:t>10%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0B1F3A"/>
                          </a:solidFill>
                          <a:latin typeface="맑은 고딕"/>
                        </a:rPr>
                        <a:t>54%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434840"/>
            <a:ext cx="5394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B6470"/>
                </a:solidFill>
                <a:latin typeface="맑은 고딕"/>
              </a:rPr>
              <a:t>손익분기: 보정 확률 p ≥ 1/r 이면 검사하는 편이 기대비용상 유리
현장 비용비가 정해지면 같은 표로 검사 비율을 정함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6002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F3A"/>
                </a:solidFill>
                <a:latin typeface="맑은 고딕"/>
              </a:rPr>
              <a:t>② 사전경보 (이동평균 알람)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309360" y="2011680"/>
          <a:ext cx="533095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051560"/>
                <a:gridCol w="1051560"/>
                <a:gridCol w="1124712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신호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첫 알람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첫 불량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사전 감지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B1F3A"/>
                          </a:solidFill>
                          <a:latin typeface="맑은 고딕"/>
                        </a:rPr>
                        <a:t>CN7 공정 흔들림</a:t>
                      </a:r>
                    </a:p>
                  </a:txBody>
                  <a:tcPr marL="73152" marR="73152" marT="27432" marB="27432" anchor="ctr">
                    <a:solidFill>
                      <a:srgbClr val="FDEF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B1F3A"/>
                          </a:solidFill>
                          <a:latin typeface="맑은 고딕"/>
                        </a:rPr>
                        <a:t>31</a:t>
                      </a:r>
                    </a:p>
                  </a:txBody>
                  <a:tcPr marL="73152" marR="73152" marT="27432" marB="27432" anchor="ctr">
                    <a:solidFill>
                      <a:srgbClr val="FDEF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B1F3A"/>
                          </a:solidFill>
                          <a:latin typeface="맑은 고딕"/>
                        </a:rPr>
                        <a:t>47</a:t>
                      </a:r>
                    </a:p>
                  </a:txBody>
                  <a:tcPr marL="73152" marR="73152" marT="27432" marB="27432" anchor="ctr">
                    <a:solidFill>
                      <a:srgbClr val="FDEF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B1F3A"/>
                          </a:solidFill>
                          <a:latin typeface="맑은 고딕"/>
                        </a:rPr>
                        <a:t>100%</a:t>
                      </a:r>
                    </a:p>
                  </a:txBody>
                  <a:tcPr marL="73152" marR="73152" marT="27432" marB="27432" anchor="ctr">
                    <a:solidFill>
                      <a:srgbClr val="FDEFE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B1F3A"/>
                          </a:solidFill>
                          <a:latin typeface="맑은 고딕"/>
                        </a:rPr>
                        <a:t>CN7 모델 점수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0B1F3A"/>
                          </a:solidFill>
                          <a:latin typeface="맑은 고딕"/>
                        </a:rPr>
                        <a:t>153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0B1F3A"/>
                          </a:solidFill>
                          <a:latin typeface="맑은 고딕"/>
                        </a:rPr>
                        <a:t>47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0B1F3A"/>
                          </a:solidFill>
                          <a:latin typeface="맑은 고딕"/>
                        </a:rPr>
                        <a:t>0%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B1F3A"/>
                          </a:solidFill>
                          <a:latin typeface="맑은 고딕"/>
                        </a:rPr>
                        <a:t>RG3 공정 흔들림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0B1F3A"/>
                          </a:solidFill>
                          <a:latin typeface="맑은 고딕"/>
                        </a:rPr>
                        <a:t>1291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0B1F3A"/>
                          </a:solidFill>
                          <a:latin typeface="맑은 고딕"/>
                        </a:rPr>
                        <a:t>1347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0B1F3A"/>
                          </a:solidFill>
                          <a:latin typeface="맑은 고딕"/>
                        </a:rPr>
                        <a:t>14%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309360" y="3977639"/>
            <a:ext cx="5303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B6470"/>
                </a:solidFill>
                <a:latin typeface="맑은 고딕"/>
              </a:rPr>
              <a:t>공정 흔들림 = 직전 10사출 평균 대비 공정값 편차 (라벨 미사용)
알람 기준을 같은 데이터에서 정했고 CN7 불안정 구간이 한 번뿐이라 낙관적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394960"/>
            <a:ext cx="11091672" cy="777240"/>
          </a:xfrm>
          <a:prstGeom prst="roundRect">
            <a:avLst>
              <a:gd name="adj" fmla="val 6000"/>
            </a:avLst>
          </a:prstGeom>
          <a:solidFill>
            <a:srgbClr val="FD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394960"/>
            <a:ext cx="10634472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B1F3A"/>
                </a:solidFill>
                <a:latin typeface="맑은 고딕"/>
              </a:rPr>
              <a:t>경보가 울리면 해제될 때까지 강화검사하고, 그 기간의 검사 결과를 라벨로 쌓아 재학습에 사용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E8C87"/>
                </a:solidFill>
                <a:latin typeface="맑은 고딕"/>
              </a:rPr>
              <a:t>QUALITY PRIORITY  ·  20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658368"/>
            <a:ext cx="11094415" cy="0"/>
          </a:xfrm>
          <a:prstGeom prst="line">
            <a:avLst/>
          </a:prstGeom>
          <a:ln w="9525">
            <a:solidFill>
              <a:srgbClr val="D5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786384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B1F3A"/>
                </a:solidFill>
                <a:latin typeface="맑은 고딕"/>
              </a:rPr>
              <a:t>현장 운영: 위험점수 → 등급 → 검사 → 모니터링 → 재학습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470"/>
                </a:solidFill>
                <a:latin typeface="맑은 고딕"/>
              </a:rPr>
              <a:t>출처  보고서 4장 · predict.py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0E8C87"/>
                </a:solidFill>
                <a:latin typeface="맑은 고딕"/>
              </a:rPr>
              <a:t>20</a:t>
            </a:r>
          </a:p>
        </p:txBody>
      </p:sp>
      <p:pic>
        <p:nvPicPr>
          <p:cNvPr id="7" name="Picture 6" descr="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463040"/>
            <a:ext cx="10332720" cy="367543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5257800"/>
            <a:ext cx="3520440" cy="1051560"/>
          </a:xfrm>
          <a:prstGeom prst="roundRect">
            <a:avLst>
              <a:gd name="adj" fmla="val 6000"/>
            </a:avLst>
          </a:prstGeom>
          <a:solidFill>
            <a:srgbClr val="E6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5321808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E8C87"/>
                </a:solidFill>
                <a:latin typeface="맑은 고딕"/>
              </a:rPr>
              <a:t>무작위 표본 검사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632704"/>
            <a:ext cx="3154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0B1F3A"/>
                </a:solidFill>
                <a:latin typeface="맑은 고딕"/>
              </a:rPr>
              <a:t>검사 대상에서 빠진 제품의 2~5%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0B1F3A"/>
                </a:solidFill>
                <a:latin typeface="맑은 고딕"/>
              </a:rPr>
              <a:t>→ 미탐지율·등급별 실제 불량률 추정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5257800"/>
            <a:ext cx="3520440" cy="1051560"/>
          </a:xfrm>
          <a:prstGeom prst="roundRect">
            <a:avLst>
              <a:gd name="adj" fmla="val 6000"/>
            </a:avLst>
          </a:prstGeom>
          <a:solidFill>
            <a:srgbClr val="FD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7" y="5321808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F07D21"/>
                </a:solidFill>
                <a:latin typeface="맑은 고딕"/>
              </a:rPr>
              <a:t>재학습 조건 (예시)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7" y="5632704"/>
            <a:ext cx="3154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0B1F3A"/>
                </a:solidFill>
                <a:latin typeface="맑은 고딕"/>
              </a:rPr>
              <a:t>새 불량 라벨 누적 · 미탐지율 상승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0B1F3A"/>
                </a:solidFill>
                <a:latin typeface="맑은 고딕"/>
              </a:rPr>
              <a:t>금형·자재·설정 변경 · 경보 반복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5257800"/>
            <a:ext cx="3520440" cy="1051560"/>
          </a:xfrm>
          <a:prstGeom prst="roundRect">
            <a:avLst>
              <a:gd name="adj" fmla="val 6000"/>
            </a:avLst>
          </a:prstGeom>
          <a:solidFill>
            <a:srgbClr val="E6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5321808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E8C87"/>
                </a:solidFill>
                <a:latin typeface="맑은 고딕"/>
              </a:rPr>
              <a:t>재학습 절차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5632704"/>
            <a:ext cx="3154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0B1F3A"/>
                </a:solidFill>
                <a:latin typeface="맑은 고딕"/>
              </a:rPr>
              <a:t>같은 그룹 분할·시간 검증·선정 규칙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0B1F3A"/>
                </a:solidFill>
                <a:latin typeface="맑은 고딕"/>
              </a:rPr>
              <a:t>등급 경계와 보정도 함께 갱신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E8C87"/>
                </a:solidFill>
                <a:latin typeface="맑은 고딕"/>
              </a:rPr>
              <a:t>QUALITY PRIORITY  ·  21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658368"/>
            <a:ext cx="11094415" cy="0"/>
          </a:xfrm>
          <a:prstGeom prst="line">
            <a:avLst/>
          </a:prstGeom>
          <a:ln w="9525">
            <a:solidFill>
              <a:srgbClr val="D5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786384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B1F3A"/>
                </a:solidFill>
                <a:latin typeface="맑은 고딕"/>
              </a:rPr>
              <a:t>선행연구와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470"/>
                </a:solidFill>
                <a:latin typeface="맑은 고딕"/>
              </a:rPr>
              <a:t>출처  한용희·고방원(2025) · 홍지수 외(2023) · 조현민·신현준(2021) · Kim et al.(2021)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0E8C87"/>
                </a:solidFill>
                <a:latin typeface="맑은 고딕"/>
              </a:rPr>
              <a:t>21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0200"/>
          <a:ext cx="11091672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240280"/>
                <a:gridCol w="2514600"/>
                <a:gridCol w="1691640"/>
                <a:gridCol w="2542032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연구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데이터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방법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결과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본 연구와의 차이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B1F3A"/>
                          </a:solidFill>
                          <a:latin typeface="맑은 고딕"/>
                        </a:rPr>
                        <a:t>한용희·고방원 (2025)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B1F3A"/>
                          </a:solidFill>
                          <a:latin typeface="맑은 고딕"/>
                        </a:rPr>
                        <a:t>KAMP 886,227건 · 불량 1.2%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B1F3A"/>
                          </a:solidFill>
                          <a:latin typeface="맑은 고딕"/>
                        </a:rPr>
                        <a:t>CNN-LSTM + 부스팅 앙상블, SMOTE·ADASYN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B1F3A"/>
                          </a:solidFill>
                          <a:latin typeface="맑은 고딕"/>
                        </a:rPr>
                        <a:t>F1 0.815, AUC 0.978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B1F3A"/>
                          </a:solidFill>
                          <a:latin typeface="맑은 고딕"/>
                        </a:rPr>
                        <a:t>불량 1만 건 → 부스팅 우세 / 본 데이터는 배깅 우세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B1F3A"/>
                          </a:solidFill>
                          <a:latin typeface="맑은 고딕"/>
                        </a:rPr>
                        <a:t>홍지수 외 (2023)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B1F3A"/>
                          </a:solidFill>
                          <a:latin typeface="맑은 고딕"/>
                        </a:rPr>
                        <a:t>KAMP 사출성형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B1F3A"/>
                          </a:solidFill>
                          <a:latin typeface="맑은 고딕"/>
                        </a:rPr>
                        <a:t>XGBoost·LightGBM + SHAP·ICE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B1F3A"/>
                          </a:solidFill>
                          <a:latin typeface="맑은 고딕"/>
                        </a:rPr>
                        <a:t>불량률 1.00% → 0.21%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B1F3A"/>
                          </a:solidFill>
                          <a:latin typeface="맑은 고딕"/>
                        </a:rPr>
                        <a:t>원 단위 관리범위 (본 데이터는 표준화되어 불가)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B1F3A"/>
                          </a:solidFill>
                          <a:latin typeface="맑은 고딕"/>
                        </a:rPr>
                        <a:t>조현민·신현준 (2021)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B1F3A"/>
                          </a:solidFill>
                          <a:latin typeface="맑은 고딕"/>
                        </a:rPr>
                        <a:t>KAMP 36변수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B1F3A"/>
                          </a:solidFill>
                          <a:latin typeface="맑은 고딕"/>
                        </a:rPr>
                        <a:t>DAE·LSTM·CNN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B1F3A"/>
                          </a:solidFill>
                          <a:latin typeface="맑은 고딕"/>
                        </a:rPr>
                        <a:t>Accuracy·F1 약 100%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B1F3A"/>
                          </a:solidFill>
                          <a:latin typeface="맑은 고딕"/>
                        </a:rPr>
                        <a:t>검증 분할 방식 확인 불가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B1F3A"/>
                          </a:solidFill>
                          <a:latin typeface="맑은 고딕"/>
                        </a:rPr>
                        <a:t>Kim et al. (2021)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B1F3A"/>
                          </a:solidFill>
                          <a:latin typeface="맑은 고딕"/>
                        </a:rPr>
                        <a:t>차량 사이드몰딩 · 불량 4%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B1F3A"/>
                          </a:solidFill>
                          <a:latin typeface="맑은 고딕"/>
                        </a:rPr>
                        <a:t>표 + 금형 내 온도 시계열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B1F3A"/>
                          </a:solidFill>
                          <a:latin typeface="맑은 고딕"/>
                        </a:rPr>
                        <a:t>F1 0.625 → 0.75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B1F3A"/>
                          </a:solidFill>
                          <a:latin typeface="맑은 고딕"/>
                        </a:rPr>
                        <a:t>센서 시계열의 가치 → 센서 추가 제안 근거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B1F3A"/>
                          </a:solidFill>
                          <a:latin typeface="맑은 고딕"/>
                        </a:rPr>
                        <a:t>본 연구</a:t>
                      </a:r>
                    </a:p>
                  </a:txBody>
                  <a:tcPr marL="73152" marR="73152" marT="27432" marB="27432" anchor="ctr">
                    <a:solidFill>
                      <a:srgbClr val="FDEF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B1F3A"/>
                          </a:solidFill>
                          <a:latin typeface="맑은 고딕"/>
                        </a:rPr>
                        <a:t>제공본 2,393건 · 불량 42</a:t>
                      </a:r>
                    </a:p>
                  </a:txBody>
                  <a:tcPr marL="73152" marR="73152" marT="27432" marB="27432" anchor="ctr">
                    <a:solidFill>
                      <a:srgbClr val="FDEF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B1F3A"/>
                          </a:solidFill>
                          <a:latin typeface="맑은 고딕"/>
                        </a:rPr>
                        <a:t>7종 비교 + 추정 캐비티, 검증 3종</a:t>
                      </a:r>
                    </a:p>
                  </a:txBody>
                  <a:tcPr marL="73152" marR="73152" marT="27432" marB="27432" anchor="ctr">
                    <a:solidFill>
                      <a:srgbClr val="FDEF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B1F3A"/>
                          </a:solidFill>
                          <a:latin typeface="맑은 고딕"/>
                        </a:rPr>
                        <a:t>PR-AUC 0.121</a:t>
                      </a:r>
                    </a:p>
                  </a:txBody>
                  <a:tcPr marL="73152" marR="73152" marT="27432" marB="27432" anchor="ctr">
                    <a:solidFill>
                      <a:srgbClr val="FDEF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B1F3A"/>
                          </a:solidFill>
                          <a:latin typeface="맑은 고딕"/>
                        </a:rPr>
                        <a:t>생산 구조 복원 · 운영점 평가</a:t>
                      </a:r>
                    </a:p>
                  </a:txBody>
                  <a:tcPr marL="73152" marR="73152" marT="27432" marB="27432" anchor="ctr">
                    <a:solidFill>
                      <a:srgbClr val="FDEFE3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257800"/>
            <a:ext cx="11091672" cy="960120"/>
          </a:xfrm>
          <a:prstGeom prst="roundRect">
            <a:avLst>
              <a:gd name="adj" fmla="val 6000"/>
            </a:avLst>
          </a:prstGeom>
          <a:solidFill>
            <a:srgbClr val="FD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257800"/>
            <a:ext cx="10634472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F3A"/>
                </a:solidFill>
                <a:latin typeface="맑은 고딕"/>
              </a:rPr>
              <a:t>행 단위 무작위 분할에서는 같은 사출의 짝이 학습·평가에 나뉘어 성능이 높게 나올 수 있음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B1F3A"/>
                </a:solidFill>
                <a:latin typeface="맑은 고딕"/>
              </a:rPr>
              <a:t>본 데이터에서는 ExtraTrees 기준 +52%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E8C87"/>
                </a:solidFill>
                <a:latin typeface="맑은 고딕"/>
              </a:rPr>
              <a:t>QUALITY PRIORITY  ·  22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658368"/>
            <a:ext cx="11094415" cy="0"/>
          </a:xfrm>
          <a:prstGeom prst="line">
            <a:avLst/>
          </a:prstGeom>
          <a:ln w="9525">
            <a:solidFill>
              <a:srgbClr val="D5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786384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B1F3A"/>
                </a:solidFill>
                <a:latin typeface="맑은 고딕"/>
              </a:rPr>
              <a:t>흔한 접근과 다른 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470"/>
                </a:solidFill>
                <a:latin typeface="맑은 고딕"/>
              </a:rPr>
              <a:t>출처  KAMP 분석도구 · 제조AI 기술 동향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0E8C87"/>
                </a:solidFill>
                <a:latin typeface="맑은 고딕"/>
              </a:rPr>
              <a:t>22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0200"/>
          <a:ext cx="6675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286000"/>
                <a:gridCol w="228600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흔한 접근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문제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본 프로젝트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정확도 KPI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전부 양품이어도 98%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PR-AUC · Recall@k%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완전 동일 행 삭제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같은 사출의 불량 라벨 삭제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추정 사출 그룹으로 유지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행 단위 무작위 분할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성능 +52% 과대평가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그룹 분할 + 누수 점검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검증 숫자 하나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시간 효과를 놓침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검증 3종으로 성능 범위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임계값 판정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fold 마다 임계값이 흔들림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검사 용량 기준 운영 + 규칙 비교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589520" y="160020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E8C87"/>
                </a:solidFill>
                <a:latin typeface="맑은 고딕"/>
              </a:rPr>
              <a:t>KAMP 분석도구 활용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2103120"/>
            <a:ext cx="4050791" cy="640080"/>
          </a:xfrm>
          <a:prstGeom prst="roundRect">
            <a:avLst>
              <a:gd name="adj" fmla="val 6000"/>
            </a:avLst>
          </a:prstGeom>
          <a:solidFill>
            <a:srgbClr val="E6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210312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1F3A"/>
                </a:solidFill>
                <a:latin typeface="맑은 고딕"/>
              </a:rPr>
              <a:t>기술통계 · 상관분석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2103120"/>
            <a:ext cx="16916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E8C87"/>
                </a:solidFill>
                <a:latin typeface="맑은 고딕"/>
              </a:rPr>
              <a:t>데이터 진단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2852927"/>
            <a:ext cx="4050791" cy="640080"/>
          </a:xfrm>
          <a:prstGeom prst="roundRect">
            <a:avLst>
              <a:gd name="adj" fmla="val 6000"/>
            </a:avLst>
          </a:prstGeom>
          <a:solidFill>
            <a:srgbClr val="E6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2852927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1F3A"/>
                </a:solidFill>
                <a:latin typeface="맑은 고딕"/>
              </a:rPr>
              <a:t>K-평균 군집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2852927"/>
            <a:ext cx="16916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E8C87"/>
                </a:solidFill>
                <a:latin typeface="맑은 고딕"/>
              </a:rPr>
              <a:t>운전구간 분리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3602735"/>
            <a:ext cx="4050791" cy="640080"/>
          </a:xfrm>
          <a:prstGeom prst="roundRect">
            <a:avLst>
              <a:gd name="adj" fmla="val 6000"/>
            </a:avLst>
          </a:prstGeom>
          <a:solidFill>
            <a:srgbClr val="E6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3602735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1F3A"/>
                </a:solidFill>
                <a:latin typeface="맑은 고딕"/>
              </a:rPr>
              <a:t>랜덤포레스트 · XGBoost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3602735"/>
            <a:ext cx="16916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E8C87"/>
                </a:solidFill>
                <a:latin typeface="맑은 고딕"/>
              </a:rPr>
              <a:t>모델 7종 비교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4352544"/>
            <a:ext cx="4050791" cy="640080"/>
          </a:xfrm>
          <a:prstGeom prst="roundRect">
            <a:avLst>
              <a:gd name="adj" fmla="val 6000"/>
            </a:avLst>
          </a:prstGeom>
          <a:solidFill>
            <a:srgbClr val="E6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4352544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1F3A"/>
                </a:solidFill>
                <a:latin typeface="맑은 고딕"/>
              </a:rPr>
              <a:t>오토인코더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4352544"/>
            <a:ext cx="16916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E8C87"/>
                </a:solidFill>
                <a:latin typeface="맑은 고딕"/>
              </a:rPr>
              <a:t>비지도 비교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5166360"/>
            <a:ext cx="4050791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B6470"/>
                </a:solidFill>
                <a:latin typeface="맑은 고딕"/>
              </a:rPr>
              <a:t>제외: CNN · YOLOv8(이미지), LSTM(시계열·음향),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B6470"/>
                </a:solidFill>
                <a:latin typeface="맑은 고딕"/>
              </a:rPr>
              <a:t>회귀분석(연속 목표)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B6470"/>
                </a:solidFill>
                <a:latin typeface="맑은 고딕"/>
              </a:rPr>
              <a:t>준지도(자기학습)는 별도 실험으로 판단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E8C87"/>
                </a:solidFill>
                <a:latin typeface="맑은 고딕"/>
              </a:rPr>
              <a:t>QUALITY PRIORITY  ·  23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658368"/>
            <a:ext cx="11094415" cy="0"/>
          </a:xfrm>
          <a:prstGeom prst="line">
            <a:avLst/>
          </a:prstGeom>
          <a:ln w="9525">
            <a:solidFill>
              <a:srgbClr val="D5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786384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B1F3A"/>
                </a:solidFill>
                <a:latin typeface="맑은 고딕"/>
              </a:rPr>
              <a:t>명령 한 줄로 전처리부터 예측결과까지 재현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470"/>
                </a:solidFill>
                <a:latin typeface="맑은 고딕"/>
              </a:rPr>
              <a:t>출처  README.md · outputs/run_manifest.json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0E8C87"/>
                </a:solidFill>
                <a:latin typeface="맑은 고딕"/>
              </a:rP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5577840" cy="137160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8FD3CF"/>
                </a:solidFill>
                <a:latin typeface="맑은 고딕"/>
              </a:rPr>
              <a:t>실행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Consolas"/>
              </a:rPr>
              <a:t>pip install --user -r requirements.txt</a:t>
            </a:r>
          </a:p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Consolas"/>
              </a:rPr>
              <a:t>python run_all.py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91840"/>
            <a:ext cx="557784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E8C87"/>
                </a:solidFill>
                <a:latin typeface="맑은 고딕"/>
              </a:rPr>
              <a:t>•  </a:t>
            </a:r>
            <a:r>
              <a:rPr sz="1300" b="0">
                <a:solidFill>
                  <a:srgbClr val="0B1F3A"/>
                </a:solidFill>
                <a:latin typeface="맑은 고딕"/>
              </a:rPr>
              <a:t>CPU 약 60분 · --quick(반복 1회) · --no-extra · --clean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E8C87"/>
                </a:solidFill>
                <a:latin typeface="맑은 고딕"/>
              </a:rPr>
              <a:t>•  </a:t>
            </a:r>
            <a:r>
              <a:rPr sz="1300" b="0">
                <a:solidFill>
                  <a:srgbClr val="0B1F3A"/>
                </a:solidFill>
                <a:latin typeface="맑은 고딕"/>
              </a:rPr>
              <a:t>로직은 src/ 모듈에만, run_all.py 와 노트북이 같은 함수 사용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E8C87"/>
                </a:solidFill>
                <a:latin typeface="맑은 고딕"/>
              </a:rPr>
              <a:t>•  </a:t>
            </a:r>
            <a:r>
              <a:rPr sz="1300" b="0">
                <a:solidFill>
                  <a:srgbClr val="0B1F3A"/>
                </a:solidFill>
                <a:latin typeface="맑은 고딕"/>
              </a:rPr>
              <a:t>run_manifest.json: 버전·입력 해시 기록, 노트북이 불일치 경고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E8C87"/>
                </a:solidFill>
                <a:latin typeface="맑은 고딕"/>
              </a:rPr>
              <a:t>•  </a:t>
            </a:r>
            <a:r>
              <a:rPr sz="1300" b="0">
                <a:solidFill>
                  <a:srgbClr val="0B1F3A"/>
                </a:solidFill>
                <a:latin typeface="맑은 고딕"/>
              </a:rPr>
              <a:t>outputs/model/ 저장 → predict.py 로 재학습 없이 추론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6002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E8C87"/>
                </a:solidFill>
                <a:latin typeface="맑은 고딕"/>
              </a:rPr>
              <a:t>환경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92240" y="2057400"/>
          <a:ext cx="514807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691640"/>
                <a:gridCol w="1719072"/>
              </a:tblGrid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결과 생성 (로컬)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KAMP-NOTE (노트북 확인)</a:t>
                      </a:r>
                    </a:p>
                  </a:txBody>
                  <a:tcPr marL="73152" marR="73152" marT="27432" marB="27432" anchor="ctr">
                    <a:solidFill>
                      <a:srgbClr val="0B1F3A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Python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3.12.7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3.11.9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scikit-learn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1.5.1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1.4.2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lightgbm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4.6.0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4.5.0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xgboost · catboost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3.4.1 · 1.2.10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F3A"/>
                          </a:solidFill>
                          <a:latin typeface="맑은 고딕"/>
                        </a:rPr>
                        <a:t>--user 설치</a:t>
                      </a:r>
                    </a:p>
                  </a:txBody>
                  <a:tcPr marL="73152" marR="73152" marT="27432" marB="27432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492240" y="44348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E8C87"/>
                </a:solidFill>
                <a:latin typeface="맑은 고딕"/>
              </a:rPr>
              <a:t>제출 산출물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84632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B1F3A"/>
                </a:solidFill>
                <a:latin typeface="맑은 고딕"/>
              </a:rPr>
              <a:t>test_predictions.csv: 위험점수 · 보정 확률 · 등급 · 검사 순위 · 기여 변수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B1F3A"/>
                </a:solidFill>
                <a:latin typeface="맑은 고딕"/>
              </a:rPr>
              <a:t>analysis.ipynb: 보고서 그림·표 재현, 결과 일치 확인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FD3CF"/>
                </a:solidFill>
                <a:latin typeface="맑은 고딕"/>
              </a:rPr>
              <a:t>CONCLUSION  · 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772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맑은 고딕"/>
              </a:rPr>
              <a:t>생산 구조를 반영해 검증하고</a:t>
            </a:r>
          </a:p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맑은 고딕"/>
              </a:rPr>
              <a:t>검사 우선순위로 연결했다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34640"/>
            <a:ext cx="2560320" cy="1417320"/>
          </a:xfrm>
          <a:prstGeom prst="roundRect">
            <a:avLst>
              <a:gd name="adj" fmla="val 6000"/>
            </a:avLst>
          </a:prstGeom>
          <a:solidFill>
            <a:srgbClr val="163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맑은 고딕"/>
              </a:rPr>
              <a:t>6.9배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C9D6E3"/>
                </a:solidFill>
                <a:latin typeface="맑은 고딕"/>
              </a:rPr>
              <a:t>무작위 대비 PR-AUC (그룹 CV)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39" y="2834640"/>
            <a:ext cx="2560320" cy="1417320"/>
          </a:xfrm>
          <a:prstGeom prst="roundRect">
            <a:avLst>
              <a:gd name="adj" fmla="val 6000"/>
            </a:avLst>
          </a:prstGeom>
          <a:solidFill>
            <a:srgbClr val="163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292608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07D21"/>
                </a:solidFill>
                <a:latin typeface="맑은 고딕"/>
              </a:rPr>
              <a:t>12/13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65760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C9D6E3"/>
                </a:solidFill>
                <a:latin typeface="맑은 고딕"/>
              </a:rPr>
              <a:t>CN7 상위 20% 검사 포착 (OOF 합산)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834640"/>
            <a:ext cx="2560320" cy="1417320"/>
          </a:xfrm>
          <a:prstGeom prst="roundRect">
            <a:avLst>
              <a:gd name="adj" fmla="val 6000"/>
            </a:avLst>
          </a:prstGeom>
          <a:solidFill>
            <a:srgbClr val="163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2608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맑은 고딕"/>
              </a:rPr>
              <a:t>24배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65760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C9D6E3"/>
                </a:solidFill>
                <a:latin typeface="맑은 고딕"/>
              </a:rPr>
              <a:t>위험 vs 정상 등급 불량률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2834640"/>
            <a:ext cx="2560320" cy="1417320"/>
          </a:xfrm>
          <a:prstGeom prst="roundRect">
            <a:avLst>
              <a:gd name="adj" fmla="val 6000"/>
            </a:avLst>
          </a:prstGeom>
          <a:solidFill>
            <a:srgbClr val="163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1159" y="292608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맑은 고딕"/>
              </a:rPr>
              <a:t>+52%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59" y="365760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C9D6E3"/>
                </a:solidFill>
                <a:latin typeface="맑은 고딕"/>
              </a:rPr>
              <a:t>행 단위 검증의 과대평가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572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8FD3CF"/>
                </a:solidFill>
                <a:latin typeface="맑은 고딕"/>
              </a:rPr>
              <a:t>한계와 다음 단계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93776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FFFFFF"/>
                </a:solidFill>
                <a:latin typeface="맑은 고딕"/>
              </a:rPr>
              <a:t>같은 시기 사출을 빼면 PR-AUC 0.045~0.060, CN7 과거→미래 검증 불가  ·  불량 42건으로 모델 간 차이 비유의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FFFFFF"/>
                </a:solidFill>
                <a:latin typeface="맑은 고딕"/>
              </a:rPr>
              <a:t>RG3 는 공정값에 신호 없음 → 캐비티별 압력·온도 센서  ·  CN7 시범 운영과 무작위 표본 검사로 효과 확인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88575" y="603504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800" b="1" i="0">
                <a:solidFill>
                  <a:srgbClr val="8FD3CF"/>
                </a:solidFill>
                <a:latin typeface="맑은 고딕"/>
              </a:rP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사출성형 품질불량 예측</dc:title>
  <dc:subject/>
  <dc:creator>전건우</dc:creator>
  <cp:keywords/>
  <dc:description/>
  <cp:lastModifiedBy>전건우</cp:lastModifiedBy>
  <cp:revision>1</cp:revision>
  <dcterms:created xsi:type="dcterms:W3CDTF">2013-01-27T09:14:16Z</dcterms:created>
  <dcterms:modified xsi:type="dcterms:W3CDTF">2013-01-27T09:15:58Z</dcterms:modified>
  <cp:category/>
</cp:coreProperties>
</file>